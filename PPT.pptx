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63" r:id="rId4"/>
    <p:sldId id="264" r:id="rId5"/>
    <p:sldId id="265" r:id="rId6"/>
    <p:sldId id="287" r:id="rId7"/>
    <p:sldId id="267" r:id="rId8"/>
    <p:sldId id="288" r:id="rId9"/>
    <p:sldId id="269" r:id="rId10"/>
    <p:sldId id="284" r:id="rId11"/>
    <p:sldId id="285" r:id="rId12"/>
    <p:sldId id="286" r:id="rId13"/>
    <p:sldId id="270" r:id="rId14"/>
  </p:sldIdLst>
  <p:sldSz cx="10693400" cy="6019800"/>
  <p:notesSz cx="10693400" cy="6019800"/>
  <p:defaultTextStyle>
    <a:defPPr>
      <a:defRPr kern="0"/>
    </a:defPPr>
  </p:defaultTextStyle>
  <p:extLst>
    <p:ext uri="{EFAFB233-063F-42B5-8137-9DF3F51BA10A}">
      <p15:sldGuideLst xmlns:p15="http://schemas.microsoft.com/office/powerpoint/2012/main">
        <p15:guide id="1" orient="horz" pos="288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07" autoAdjust="0"/>
    <p:restoredTop sz="94660"/>
  </p:normalViewPr>
  <p:slideViewPr>
    <p:cSldViewPr showGuides="1">
      <p:cViewPr varScale="1">
        <p:scale>
          <a:sx n="92" d="100"/>
          <a:sy n="92" d="100"/>
        </p:scale>
        <p:origin x="648" y="53"/>
      </p:cViewPr>
      <p:guideLst>
        <p:guide orient="horz" pos="2882"/>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016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057900" y="0"/>
            <a:ext cx="4632325" cy="301625"/>
          </a:xfrm>
          <a:prstGeom prst="rect">
            <a:avLst/>
          </a:prstGeom>
        </p:spPr>
        <p:txBody>
          <a:bodyPr vert="horz" lIns="91440" tIns="45720" rIns="91440" bIns="45720" rtlCol="0"/>
          <a:lstStyle>
            <a:lvl1pPr algn="r">
              <a:defRPr sz="1200"/>
            </a:lvl1pPr>
          </a:lstStyle>
          <a:p>
            <a:fld id="{981475AC-775B-4518-937E-359A38B67C9C}" type="datetimeFigureOut">
              <a:rPr lang="en-IN" smtClean="0"/>
              <a:t>08-12-2025</a:t>
            </a:fld>
            <a:endParaRPr lang="en-IN"/>
          </a:p>
        </p:txBody>
      </p:sp>
      <p:sp>
        <p:nvSpPr>
          <p:cNvPr id="4" name="Slide Image Placeholder 3"/>
          <p:cNvSpPr>
            <a:spLocks noGrp="1" noRot="1" noChangeAspect="1"/>
          </p:cNvSpPr>
          <p:nvPr>
            <p:ph type="sldImg" idx="2"/>
          </p:nvPr>
        </p:nvSpPr>
        <p:spPr>
          <a:xfrm>
            <a:off x="3541713" y="752475"/>
            <a:ext cx="3609975" cy="2032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69975" y="2897188"/>
            <a:ext cx="8553450" cy="23701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5718175"/>
            <a:ext cx="4633913" cy="3016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057900" y="5718175"/>
            <a:ext cx="4632325" cy="301625"/>
          </a:xfrm>
          <a:prstGeom prst="rect">
            <a:avLst/>
          </a:prstGeom>
        </p:spPr>
        <p:txBody>
          <a:bodyPr vert="horz" lIns="91440" tIns="45720" rIns="91440" bIns="45720" rtlCol="0" anchor="b"/>
          <a:lstStyle>
            <a:lvl1pPr algn="r">
              <a:defRPr sz="1200"/>
            </a:lvl1pPr>
          </a:lstStyle>
          <a:p>
            <a:fld id="{4B0FF18D-D360-48DE-8D1C-32414FF6B91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DB623B2-9048-E329-C673-2E6309866217}"/>
            </a:ext>
          </a:extLst>
        </p:cNvPr>
        <p:cNvGrpSpPr/>
        <p:nvPr/>
      </p:nvGrpSpPr>
      <p:grpSpPr>
        <a:xfrm>
          <a:off x="0" y="0"/>
          <a:ext cx="0" cy="0"/>
          <a:chOff x="0" y="0"/>
          <a:chExt cx="0" cy="0"/>
        </a:xfrm>
      </p:grpSpPr>
      <p:sp>
        <p:nvSpPr>
          <p:cNvPr id="115" name="Google Shape;115;p5:notes">
            <a:extLst>
              <a:ext uri="{FF2B5EF4-FFF2-40B4-BE49-F238E27FC236}">
                <a16:creationId xmlns:a16="http://schemas.microsoft.com/office/drawing/2014/main" id="{262CDE9D-0066-28A7-1E38-90946C2AAE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5:notes">
            <a:extLst>
              <a:ext uri="{FF2B5EF4-FFF2-40B4-BE49-F238E27FC236}">
                <a16:creationId xmlns:a16="http://schemas.microsoft.com/office/drawing/2014/main" id="{1F0A7CB6-3993-E6E1-235F-0846993604AB}"/>
              </a:ext>
            </a:extLst>
          </p:cNvPr>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1087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481" y="1866138"/>
            <a:ext cx="9094788" cy="1264158"/>
          </a:xfrm>
          <a:prstGeom prst="rect">
            <a:avLst/>
          </a:prstGeom>
        </p:spPr>
        <p:txBody>
          <a:bodyPr wrap="square" lIns="0" tIns="0" rIns="0" bIns="0">
            <a:spAutoFit/>
          </a:bodyPr>
          <a:lstStyle>
            <a:lvl1pPr>
              <a:defRPr sz="3600" b="0" i="0">
                <a:solidFill>
                  <a:schemeClr val="tx1"/>
                </a:solidFill>
                <a:latin typeface="Arial MT"/>
                <a:cs typeface="Arial MT"/>
              </a:defRPr>
            </a:lvl1pPr>
          </a:lstStyle>
          <a:p>
            <a:endParaRPr/>
          </a:p>
        </p:txBody>
      </p:sp>
      <p:sp>
        <p:nvSpPr>
          <p:cNvPr id="3" name="Holder 3"/>
          <p:cNvSpPr>
            <a:spLocks noGrp="1"/>
          </p:cNvSpPr>
          <p:nvPr>
            <p:ph type="subTitle" idx="4"/>
          </p:nvPr>
        </p:nvSpPr>
        <p:spPr>
          <a:xfrm>
            <a:off x="1604962" y="3371088"/>
            <a:ext cx="7489825" cy="1504950"/>
          </a:xfrm>
          <a:prstGeom prst="rect">
            <a:avLst/>
          </a:prstGeom>
        </p:spPr>
        <p:txBody>
          <a:bodyPr wrap="square" lIns="0" tIns="0" rIns="0" bIns="0">
            <a:spAutoFit/>
          </a:bodyPr>
          <a:lstStyle>
            <a:lvl1pPr>
              <a:defRPr sz="1700" b="0" i="0">
                <a:solidFill>
                  <a:schemeClr val="tx1"/>
                </a:solidFill>
                <a:latin typeface="Trebuchet MS" panose="020B0603020202020204"/>
                <a:cs typeface="Trebuchet MS" panose="020B060302020202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p:txBody>
          <a:bodyPr lIns="0" tIns="0" rIns="0" bIns="0"/>
          <a:lstStyle>
            <a:lvl1pPr>
              <a:defRPr sz="1800" b="0" i="0">
                <a:solidFill>
                  <a:srgbClr val="878787"/>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700" b="0" i="0">
                <a:solidFill>
                  <a:schemeClr val="tx1"/>
                </a:solidFill>
                <a:latin typeface="Trebuchet MS" panose="020B0603020202020204"/>
                <a:cs typeface="Trebuchet MS" panose="020B060302020202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p:txBody>
          <a:bodyPr lIns="0" tIns="0" rIns="0" bIns="0"/>
          <a:lstStyle>
            <a:lvl1pPr>
              <a:defRPr sz="1800" b="0" i="0">
                <a:solidFill>
                  <a:srgbClr val="878787"/>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Arial MT"/>
                <a:cs typeface="Arial MT"/>
              </a:defRPr>
            </a:lvl1pPr>
          </a:lstStyle>
          <a:p>
            <a:endParaRPr/>
          </a:p>
        </p:txBody>
      </p:sp>
      <p:sp>
        <p:nvSpPr>
          <p:cNvPr id="3" name="Holder 3"/>
          <p:cNvSpPr>
            <a:spLocks noGrp="1"/>
          </p:cNvSpPr>
          <p:nvPr>
            <p:ph sz="half" idx="2"/>
          </p:nvPr>
        </p:nvSpPr>
        <p:spPr>
          <a:xfrm>
            <a:off x="534987" y="1384554"/>
            <a:ext cx="4654391" cy="397306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10371" y="1384554"/>
            <a:ext cx="4654391" cy="397306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7" name="Holder 7"/>
          <p:cNvSpPr>
            <a:spLocks noGrp="1"/>
          </p:cNvSpPr>
          <p:nvPr>
            <p:ph type="sldNum" sz="quarter" idx="7"/>
          </p:nvPr>
        </p:nvSpPr>
        <p:spPr/>
        <p:txBody>
          <a:bodyPr lIns="0" tIns="0" rIns="0" bIns="0"/>
          <a:lstStyle>
            <a:lvl1pPr>
              <a:defRPr sz="1800" b="0" i="0">
                <a:solidFill>
                  <a:srgbClr val="878787"/>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5" name="Holder 5"/>
          <p:cNvSpPr>
            <a:spLocks noGrp="1"/>
          </p:cNvSpPr>
          <p:nvPr>
            <p:ph type="sldNum" sz="quarter" idx="7"/>
          </p:nvPr>
        </p:nvSpPr>
        <p:spPr/>
        <p:txBody>
          <a:bodyPr lIns="0" tIns="0" rIns="0" bIns="0"/>
          <a:lstStyle>
            <a:lvl1pPr>
              <a:defRPr sz="1800" b="0" i="0">
                <a:solidFill>
                  <a:srgbClr val="878787"/>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4" name="Holder 4"/>
          <p:cNvSpPr>
            <a:spLocks noGrp="1"/>
          </p:cNvSpPr>
          <p:nvPr>
            <p:ph type="sldNum" sz="quarter" idx="7"/>
          </p:nvPr>
        </p:nvSpPr>
        <p:spPr/>
        <p:txBody>
          <a:bodyPr lIns="0" tIns="0" rIns="0" bIns="0"/>
          <a:lstStyle>
            <a:lvl1pPr>
              <a:defRPr sz="1800" b="0" i="0">
                <a:solidFill>
                  <a:srgbClr val="878787"/>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47712" y="966724"/>
            <a:ext cx="9204325" cy="575310"/>
          </a:xfrm>
          <a:prstGeom prst="rect">
            <a:avLst/>
          </a:prstGeom>
        </p:spPr>
        <p:txBody>
          <a:bodyPr wrap="square" lIns="0" tIns="0" rIns="0" bIns="0">
            <a:spAutoFit/>
          </a:bodyPr>
          <a:lstStyle>
            <a:lvl1pPr>
              <a:defRPr sz="3600" b="0" i="0">
                <a:solidFill>
                  <a:schemeClr val="tx1"/>
                </a:solidFill>
                <a:latin typeface="Arial MT"/>
                <a:cs typeface="Arial MT"/>
              </a:defRPr>
            </a:lvl1pPr>
          </a:lstStyle>
          <a:p>
            <a:endParaRPr/>
          </a:p>
        </p:txBody>
      </p:sp>
      <p:sp>
        <p:nvSpPr>
          <p:cNvPr id="3" name="Holder 3"/>
          <p:cNvSpPr>
            <a:spLocks noGrp="1"/>
          </p:cNvSpPr>
          <p:nvPr>
            <p:ph type="body" idx="1"/>
          </p:nvPr>
        </p:nvSpPr>
        <p:spPr>
          <a:xfrm>
            <a:off x="748030" y="1801240"/>
            <a:ext cx="4933950" cy="2872041"/>
          </a:xfrm>
          <a:prstGeom prst="rect">
            <a:avLst/>
          </a:prstGeom>
        </p:spPr>
        <p:txBody>
          <a:bodyPr wrap="square" lIns="0" tIns="0" rIns="0" bIns="0">
            <a:spAutoFit/>
          </a:bodyPr>
          <a:lstStyle>
            <a:lvl1pPr>
              <a:defRPr sz="1700" b="0" i="0">
                <a:solidFill>
                  <a:schemeClr val="tx1"/>
                </a:solidFill>
                <a:latin typeface="Trebuchet MS" panose="020B0603020202020204"/>
                <a:cs typeface="Trebuchet MS" panose="020B0603020202020204"/>
              </a:defRPr>
            </a:lvl1pPr>
          </a:lstStyle>
          <a:p>
            <a:endParaRPr/>
          </a:p>
        </p:txBody>
      </p:sp>
      <p:sp>
        <p:nvSpPr>
          <p:cNvPr id="4" name="Holder 4"/>
          <p:cNvSpPr>
            <a:spLocks noGrp="1"/>
          </p:cNvSpPr>
          <p:nvPr>
            <p:ph type="ftr" sz="quarter" idx="5"/>
          </p:nvPr>
        </p:nvSpPr>
        <p:spPr>
          <a:xfrm>
            <a:off x="3637915" y="5598414"/>
            <a:ext cx="3423920" cy="30099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987" y="5598414"/>
            <a:ext cx="2460942" cy="30099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a:xfrm>
            <a:off x="10005059" y="5604922"/>
            <a:ext cx="216534" cy="281304"/>
          </a:xfrm>
          <a:prstGeom prst="rect">
            <a:avLst/>
          </a:prstGeom>
        </p:spPr>
        <p:txBody>
          <a:bodyPr wrap="square" lIns="0" tIns="0" rIns="0" bIns="0">
            <a:spAutoFit/>
          </a:bodyPr>
          <a:lstStyle>
            <a:lvl1pPr>
              <a:defRPr sz="1800" b="0" i="0">
                <a:solidFill>
                  <a:srgbClr val="878787"/>
                </a:solidFill>
                <a:latin typeface="Arial MT"/>
                <a:cs typeface="Arial MT"/>
              </a:defRPr>
            </a:lvl1pPr>
          </a:lstStyle>
          <a:p>
            <a:pPr marL="38100">
              <a:lnSpc>
                <a:spcPts val="209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jpeg"/><Relationship Id="rId2" Type="http://schemas.openxmlformats.org/officeDocument/2006/relationships/image" Target="../media/image1.jpeg"/><Relationship Id="rId16" Type="http://schemas.openxmlformats.org/officeDocument/2006/relationships/image" Target="../media/image15.png"/><Relationship Id="rId1" Type="http://schemas.openxmlformats.org/officeDocument/2006/relationships/slideLayout" Target="../slideLayouts/slideLayout5.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7.jpeg"/><Relationship Id="rId16" Type="http://schemas.openxmlformats.org/officeDocument/2006/relationships/image" Target="../media/image31.png"/><Relationship Id="rId1" Type="http://schemas.openxmlformats.org/officeDocument/2006/relationships/slideLayout" Target="../slideLayouts/slideLayout5.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87391" y="2400300"/>
            <a:ext cx="3718560" cy="1374351"/>
          </a:xfrm>
          <a:prstGeom prst="rect">
            <a:avLst/>
          </a:prstGeom>
        </p:spPr>
        <p:txBody>
          <a:bodyPr vert="horz" wrap="square" lIns="0" tIns="6350" rIns="0" bIns="0" rtlCol="0">
            <a:spAutoFit/>
          </a:bodyPr>
          <a:lstStyle/>
          <a:p>
            <a:pPr marL="12700" marR="5080">
              <a:lnSpc>
                <a:spcPct val="102000"/>
              </a:lnSpc>
              <a:spcBef>
                <a:spcPts val="50"/>
              </a:spcBef>
            </a:pPr>
            <a:r>
              <a:rPr lang="en-IN" sz="3200" b="1" u="sng" dirty="0" err="1"/>
              <a:t>MilletVision</a:t>
            </a:r>
            <a:r>
              <a:rPr lang="en-US" sz="3200" b="1" spc="-25" dirty="0">
                <a:latin typeface="Times New Roman" panose="02020603050405020304" pitchFamily="18" charset="0"/>
                <a:cs typeface="Times New Roman" panose="02020603050405020304" pitchFamily="18" charset="0"/>
              </a:rPr>
              <a:t> </a:t>
            </a:r>
            <a:r>
              <a:rPr lang="en-US" sz="3200" spc="-25" dirty="0">
                <a:latin typeface="Times New Roman" panose="02020603050405020304" pitchFamily="18" charset="0"/>
                <a:cs typeface="Times New Roman" panose="02020603050405020304" pitchFamily="18" charset="0"/>
              </a:rPr>
              <a:t>:</a:t>
            </a:r>
            <a:r>
              <a:rPr lang="en-US" sz="3200" spc="-190" dirty="0">
                <a:latin typeface="Times New Roman" panose="02020603050405020304" pitchFamily="18" charset="0"/>
                <a:cs typeface="Times New Roman" panose="02020603050405020304" pitchFamily="18" charset="0"/>
              </a:rPr>
              <a:t> </a:t>
            </a:r>
          </a:p>
          <a:p>
            <a:pPr marL="12700" marR="5080">
              <a:lnSpc>
                <a:spcPct val="102000"/>
              </a:lnSpc>
              <a:spcBef>
                <a:spcPts val="50"/>
              </a:spcBef>
            </a:pPr>
            <a:r>
              <a:rPr lang="en-IN" sz="2800" dirty="0"/>
              <a:t>Smart Millet Detection System</a:t>
            </a:r>
            <a:endParaRPr lang="en-US" sz="28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1962150" y="504698"/>
            <a:ext cx="800100" cy="818896"/>
          </a:xfrm>
          <a:prstGeom prst="rect">
            <a:avLst/>
          </a:prstGeom>
        </p:spPr>
      </p:pic>
      <p:grpSp>
        <p:nvGrpSpPr>
          <p:cNvPr id="5" name="object 5"/>
          <p:cNvGrpSpPr/>
          <p:nvPr/>
        </p:nvGrpSpPr>
        <p:grpSpPr>
          <a:xfrm>
            <a:off x="3000375" y="523240"/>
            <a:ext cx="390525" cy="248285"/>
            <a:chOff x="3000375" y="523240"/>
            <a:chExt cx="390525" cy="248285"/>
          </a:xfrm>
        </p:grpSpPr>
        <p:pic>
          <p:nvPicPr>
            <p:cNvPr id="6" name="object 6"/>
            <p:cNvPicPr/>
            <p:nvPr/>
          </p:nvPicPr>
          <p:blipFill>
            <a:blip r:embed="rId3" cstate="print"/>
            <a:stretch>
              <a:fillRect/>
            </a:stretch>
          </p:blipFill>
          <p:spPr>
            <a:xfrm>
              <a:off x="3000375" y="523748"/>
              <a:ext cx="200025" cy="247523"/>
            </a:xfrm>
            <a:prstGeom prst="rect">
              <a:avLst/>
            </a:prstGeom>
          </p:spPr>
        </p:pic>
        <p:sp>
          <p:nvSpPr>
            <p:cNvPr id="7" name="object 7"/>
            <p:cNvSpPr/>
            <p:nvPr/>
          </p:nvSpPr>
          <p:spPr>
            <a:xfrm>
              <a:off x="3238500" y="523239"/>
              <a:ext cx="152400" cy="247650"/>
            </a:xfrm>
            <a:custGeom>
              <a:avLst/>
              <a:gdLst/>
              <a:ahLst/>
              <a:cxnLst/>
              <a:rect l="l" t="t" r="r" b="b"/>
              <a:pathLst>
                <a:path w="152400" h="247650">
                  <a:moveTo>
                    <a:pt x="152019" y="212090"/>
                  </a:moveTo>
                  <a:lnTo>
                    <a:pt x="40754" y="212090"/>
                  </a:lnTo>
                  <a:lnTo>
                    <a:pt x="40754" y="0"/>
                  </a:lnTo>
                  <a:lnTo>
                    <a:pt x="0" y="0"/>
                  </a:lnTo>
                  <a:lnTo>
                    <a:pt x="0" y="212090"/>
                  </a:lnTo>
                  <a:lnTo>
                    <a:pt x="0" y="247650"/>
                  </a:lnTo>
                  <a:lnTo>
                    <a:pt x="152019" y="247650"/>
                  </a:lnTo>
                  <a:lnTo>
                    <a:pt x="152019" y="212090"/>
                  </a:lnTo>
                  <a:close/>
                </a:path>
              </a:pathLst>
            </a:custGeom>
            <a:solidFill>
              <a:srgbClr val="221F1F"/>
            </a:solidFill>
          </p:spPr>
          <p:txBody>
            <a:bodyPr wrap="square" lIns="0" tIns="0" rIns="0" bIns="0" rtlCol="0"/>
            <a:lstStyle/>
            <a:p>
              <a:endParaRPr/>
            </a:p>
          </p:txBody>
        </p:sp>
      </p:grpSp>
      <p:sp>
        <p:nvSpPr>
          <p:cNvPr id="8" name="object 8"/>
          <p:cNvSpPr/>
          <p:nvPr/>
        </p:nvSpPr>
        <p:spPr>
          <a:xfrm>
            <a:off x="3438525" y="523239"/>
            <a:ext cx="161290" cy="247650"/>
          </a:xfrm>
          <a:custGeom>
            <a:avLst/>
            <a:gdLst/>
            <a:ahLst/>
            <a:cxnLst/>
            <a:rect l="l" t="t" r="r" b="b"/>
            <a:pathLst>
              <a:path w="161289" h="247650">
                <a:moveTo>
                  <a:pt x="161290" y="212090"/>
                </a:moveTo>
                <a:lnTo>
                  <a:pt x="41402" y="212090"/>
                </a:lnTo>
                <a:lnTo>
                  <a:pt x="41402" y="138430"/>
                </a:lnTo>
                <a:lnTo>
                  <a:pt x="144653" y="138430"/>
                </a:lnTo>
                <a:lnTo>
                  <a:pt x="144653" y="102870"/>
                </a:lnTo>
                <a:lnTo>
                  <a:pt x="41402" y="102870"/>
                </a:lnTo>
                <a:lnTo>
                  <a:pt x="41402" y="36830"/>
                </a:lnTo>
                <a:lnTo>
                  <a:pt x="159766" y="36830"/>
                </a:lnTo>
                <a:lnTo>
                  <a:pt x="159766" y="1270"/>
                </a:lnTo>
                <a:lnTo>
                  <a:pt x="25273" y="1270"/>
                </a:lnTo>
                <a:lnTo>
                  <a:pt x="25273" y="0"/>
                </a:lnTo>
                <a:lnTo>
                  <a:pt x="0" y="0"/>
                </a:lnTo>
                <a:lnTo>
                  <a:pt x="0" y="247650"/>
                </a:lnTo>
                <a:lnTo>
                  <a:pt x="161290" y="247650"/>
                </a:lnTo>
                <a:lnTo>
                  <a:pt x="161290" y="212090"/>
                </a:lnTo>
                <a:close/>
              </a:path>
            </a:pathLst>
          </a:custGeom>
          <a:solidFill>
            <a:srgbClr val="221F1F"/>
          </a:solidFill>
        </p:spPr>
        <p:txBody>
          <a:bodyPr wrap="square" lIns="0" tIns="0" rIns="0" bIns="0" rtlCol="0"/>
          <a:lstStyle/>
          <a:p>
            <a:endParaRPr/>
          </a:p>
        </p:txBody>
      </p:sp>
      <p:grpSp>
        <p:nvGrpSpPr>
          <p:cNvPr id="9" name="object 9"/>
          <p:cNvGrpSpPr/>
          <p:nvPr/>
        </p:nvGrpSpPr>
        <p:grpSpPr>
          <a:xfrm>
            <a:off x="3733800" y="523240"/>
            <a:ext cx="571500" cy="248285"/>
            <a:chOff x="3733800" y="523240"/>
            <a:chExt cx="571500" cy="248285"/>
          </a:xfrm>
        </p:grpSpPr>
        <p:sp>
          <p:nvSpPr>
            <p:cNvPr id="10" name="object 10"/>
            <p:cNvSpPr/>
            <p:nvPr/>
          </p:nvSpPr>
          <p:spPr>
            <a:xfrm>
              <a:off x="3733800" y="523239"/>
              <a:ext cx="190500" cy="247650"/>
            </a:xfrm>
            <a:custGeom>
              <a:avLst/>
              <a:gdLst/>
              <a:ahLst/>
              <a:cxnLst/>
              <a:rect l="l" t="t" r="r" b="b"/>
              <a:pathLst>
                <a:path w="190500" h="247650">
                  <a:moveTo>
                    <a:pt x="190246" y="0"/>
                  </a:moveTo>
                  <a:lnTo>
                    <a:pt x="0" y="0"/>
                  </a:lnTo>
                  <a:lnTo>
                    <a:pt x="0" y="35560"/>
                  </a:lnTo>
                  <a:lnTo>
                    <a:pt x="74930" y="35560"/>
                  </a:lnTo>
                  <a:lnTo>
                    <a:pt x="74930" y="247650"/>
                  </a:lnTo>
                  <a:lnTo>
                    <a:pt x="115062" y="247650"/>
                  </a:lnTo>
                  <a:lnTo>
                    <a:pt x="115062" y="35560"/>
                  </a:lnTo>
                  <a:lnTo>
                    <a:pt x="190246" y="35560"/>
                  </a:lnTo>
                  <a:lnTo>
                    <a:pt x="190246" y="0"/>
                  </a:lnTo>
                  <a:close/>
                </a:path>
              </a:pathLst>
            </a:custGeom>
            <a:solidFill>
              <a:srgbClr val="221F1F"/>
            </a:solidFill>
          </p:spPr>
          <p:txBody>
            <a:bodyPr wrap="square" lIns="0" tIns="0" rIns="0" bIns="0" rtlCol="0"/>
            <a:lstStyle/>
            <a:p>
              <a:endParaRPr/>
            </a:p>
          </p:txBody>
        </p:sp>
        <p:pic>
          <p:nvPicPr>
            <p:cNvPr id="11" name="object 11"/>
            <p:cNvPicPr/>
            <p:nvPr/>
          </p:nvPicPr>
          <p:blipFill>
            <a:blip r:embed="rId4" cstate="print"/>
            <a:stretch>
              <a:fillRect/>
            </a:stretch>
          </p:blipFill>
          <p:spPr>
            <a:xfrm>
              <a:off x="3943350" y="580898"/>
              <a:ext cx="161925" cy="190373"/>
            </a:xfrm>
            <a:prstGeom prst="rect">
              <a:avLst/>
            </a:prstGeom>
          </p:spPr>
        </p:pic>
        <p:pic>
          <p:nvPicPr>
            <p:cNvPr id="12" name="object 12"/>
            <p:cNvPicPr/>
            <p:nvPr/>
          </p:nvPicPr>
          <p:blipFill>
            <a:blip r:embed="rId5" cstate="print"/>
            <a:stretch>
              <a:fillRect/>
            </a:stretch>
          </p:blipFill>
          <p:spPr>
            <a:xfrm>
              <a:off x="4143375" y="580898"/>
              <a:ext cx="161925" cy="190373"/>
            </a:xfrm>
            <a:prstGeom prst="rect">
              <a:avLst/>
            </a:prstGeom>
          </p:spPr>
        </p:pic>
      </p:grpSp>
      <p:grpSp>
        <p:nvGrpSpPr>
          <p:cNvPr id="13" name="object 13"/>
          <p:cNvGrpSpPr/>
          <p:nvPr/>
        </p:nvGrpSpPr>
        <p:grpSpPr>
          <a:xfrm>
            <a:off x="4352925" y="504698"/>
            <a:ext cx="151765" cy="266065"/>
            <a:chOff x="4352925" y="504698"/>
            <a:chExt cx="151765" cy="266065"/>
          </a:xfrm>
        </p:grpSpPr>
        <p:sp>
          <p:nvSpPr>
            <p:cNvPr id="14" name="object 14"/>
            <p:cNvSpPr/>
            <p:nvPr/>
          </p:nvSpPr>
          <p:spPr>
            <a:xfrm>
              <a:off x="4352925" y="504698"/>
              <a:ext cx="41275" cy="266065"/>
            </a:xfrm>
            <a:custGeom>
              <a:avLst/>
              <a:gdLst/>
              <a:ahLst/>
              <a:cxnLst/>
              <a:rect l="l" t="t" r="r" b="b"/>
              <a:pathLst>
                <a:path w="41275" h="266065">
                  <a:moveTo>
                    <a:pt x="40766" y="0"/>
                  </a:moveTo>
                  <a:lnTo>
                    <a:pt x="0" y="0"/>
                  </a:lnTo>
                  <a:lnTo>
                    <a:pt x="0" y="266064"/>
                  </a:lnTo>
                  <a:lnTo>
                    <a:pt x="40766" y="266064"/>
                  </a:lnTo>
                  <a:lnTo>
                    <a:pt x="40766" y="169163"/>
                  </a:lnTo>
                  <a:lnTo>
                    <a:pt x="33527" y="169163"/>
                  </a:lnTo>
                  <a:lnTo>
                    <a:pt x="10540" y="168275"/>
                  </a:lnTo>
                  <a:lnTo>
                    <a:pt x="13970" y="136398"/>
                  </a:lnTo>
                  <a:lnTo>
                    <a:pt x="32385" y="98551"/>
                  </a:lnTo>
                  <a:lnTo>
                    <a:pt x="37719" y="92710"/>
                  </a:lnTo>
                  <a:lnTo>
                    <a:pt x="40766" y="90042"/>
                  </a:lnTo>
                  <a:lnTo>
                    <a:pt x="40766" y="0"/>
                  </a:lnTo>
                  <a:close/>
                </a:path>
              </a:pathLst>
            </a:custGeom>
            <a:solidFill>
              <a:srgbClr val="221F1F"/>
            </a:solidFill>
          </p:spPr>
          <p:txBody>
            <a:bodyPr wrap="square" lIns="0" tIns="0" rIns="0" bIns="0" rtlCol="0"/>
            <a:lstStyle/>
            <a:p>
              <a:endParaRPr/>
            </a:p>
          </p:txBody>
        </p:sp>
        <p:pic>
          <p:nvPicPr>
            <p:cNvPr id="15" name="object 15"/>
            <p:cNvPicPr/>
            <p:nvPr/>
          </p:nvPicPr>
          <p:blipFill>
            <a:blip r:embed="rId6" cstate="print"/>
            <a:stretch>
              <a:fillRect/>
            </a:stretch>
          </p:blipFill>
          <p:spPr>
            <a:xfrm>
              <a:off x="4363465" y="576961"/>
              <a:ext cx="141224" cy="193801"/>
            </a:xfrm>
            <a:prstGeom prst="rect">
              <a:avLst/>
            </a:prstGeom>
          </p:spPr>
        </p:pic>
      </p:grpSp>
      <p:pic>
        <p:nvPicPr>
          <p:cNvPr id="16" name="object 16"/>
          <p:cNvPicPr/>
          <p:nvPr/>
        </p:nvPicPr>
        <p:blipFill>
          <a:blip r:embed="rId7" cstate="print"/>
          <a:stretch>
            <a:fillRect/>
          </a:stretch>
        </p:blipFill>
        <p:spPr>
          <a:xfrm>
            <a:off x="4562475" y="580898"/>
            <a:ext cx="152400" cy="190373"/>
          </a:xfrm>
          <a:prstGeom prst="rect">
            <a:avLst/>
          </a:prstGeom>
        </p:spPr>
      </p:pic>
      <p:pic>
        <p:nvPicPr>
          <p:cNvPr id="17" name="object 17"/>
          <p:cNvPicPr/>
          <p:nvPr/>
        </p:nvPicPr>
        <p:blipFill>
          <a:blip r:embed="rId8" cstate="print"/>
          <a:stretch>
            <a:fillRect/>
          </a:stretch>
        </p:blipFill>
        <p:spPr>
          <a:xfrm>
            <a:off x="4772025" y="580898"/>
            <a:ext cx="161925" cy="190373"/>
          </a:xfrm>
          <a:prstGeom prst="rect">
            <a:avLst/>
          </a:prstGeom>
        </p:spPr>
      </p:pic>
      <p:pic>
        <p:nvPicPr>
          <p:cNvPr id="18" name="object 18"/>
          <p:cNvPicPr/>
          <p:nvPr/>
        </p:nvPicPr>
        <p:blipFill>
          <a:blip r:embed="rId9" cstate="print"/>
          <a:stretch>
            <a:fillRect/>
          </a:stretch>
        </p:blipFill>
        <p:spPr>
          <a:xfrm>
            <a:off x="4991100" y="504698"/>
            <a:ext cx="971550" cy="333248"/>
          </a:xfrm>
          <a:prstGeom prst="rect">
            <a:avLst/>
          </a:prstGeom>
        </p:spPr>
      </p:pic>
      <p:sp>
        <p:nvSpPr>
          <p:cNvPr id="19" name="object 19"/>
          <p:cNvSpPr/>
          <p:nvPr/>
        </p:nvSpPr>
        <p:spPr>
          <a:xfrm>
            <a:off x="6010275" y="504723"/>
            <a:ext cx="47625" cy="266065"/>
          </a:xfrm>
          <a:custGeom>
            <a:avLst/>
            <a:gdLst/>
            <a:ahLst/>
            <a:cxnLst/>
            <a:rect l="l" t="t" r="r" b="b"/>
            <a:pathLst>
              <a:path w="47625" h="266065">
                <a:moveTo>
                  <a:pt x="47039" y="0"/>
                </a:moveTo>
                <a:lnTo>
                  <a:pt x="0" y="0"/>
                </a:lnTo>
                <a:lnTo>
                  <a:pt x="0" y="266039"/>
                </a:lnTo>
                <a:lnTo>
                  <a:pt x="47039" y="266039"/>
                </a:lnTo>
                <a:lnTo>
                  <a:pt x="47039" y="0"/>
                </a:lnTo>
                <a:close/>
              </a:path>
            </a:pathLst>
          </a:custGeom>
          <a:solidFill>
            <a:srgbClr val="221F1F"/>
          </a:solidFill>
        </p:spPr>
        <p:txBody>
          <a:bodyPr wrap="square" lIns="0" tIns="0" rIns="0" bIns="0" rtlCol="0"/>
          <a:lstStyle/>
          <a:p>
            <a:endParaRPr/>
          </a:p>
        </p:txBody>
      </p:sp>
      <p:grpSp>
        <p:nvGrpSpPr>
          <p:cNvPr id="20" name="object 20"/>
          <p:cNvGrpSpPr/>
          <p:nvPr/>
        </p:nvGrpSpPr>
        <p:grpSpPr>
          <a:xfrm>
            <a:off x="3000375" y="837946"/>
            <a:ext cx="371475" cy="247650"/>
            <a:chOff x="3000375" y="837946"/>
            <a:chExt cx="371475" cy="247650"/>
          </a:xfrm>
        </p:grpSpPr>
        <p:pic>
          <p:nvPicPr>
            <p:cNvPr id="21" name="object 21"/>
            <p:cNvPicPr/>
            <p:nvPr/>
          </p:nvPicPr>
          <p:blipFill>
            <a:blip r:embed="rId10" cstate="print"/>
            <a:stretch>
              <a:fillRect/>
            </a:stretch>
          </p:blipFill>
          <p:spPr>
            <a:xfrm>
              <a:off x="3000375" y="837946"/>
              <a:ext cx="180975" cy="247523"/>
            </a:xfrm>
            <a:prstGeom prst="rect">
              <a:avLst/>
            </a:prstGeom>
          </p:spPr>
        </p:pic>
        <p:pic>
          <p:nvPicPr>
            <p:cNvPr id="22" name="object 22"/>
            <p:cNvPicPr/>
            <p:nvPr/>
          </p:nvPicPr>
          <p:blipFill>
            <a:blip r:embed="rId7" cstate="print"/>
            <a:stretch>
              <a:fillRect/>
            </a:stretch>
          </p:blipFill>
          <p:spPr>
            <a:xfrm>
              <a:off x="3219450" y="895096"/>
              <a:ext cx="152400" cy="190373"/>
            </a:xfrm>
            <a:prstGeom prst="rect">
              <a:avLst/>
            </a:prstGeom>
          </p:spPr>
        </p:pic>
      </p:grpSp>
      <p:grpSp>
        <p:nvGrpSpPr>
          <p:cNvPr id="23" name="object 23"/>
          <p:cNvGrpSpPr/>
          <p:nvPr/>
        </p:nvGrpSpPr>
        <p:grpSpPr>
          <a:xfrm>
            <a:off x="3419475" y="828421"/>
            <a:ext cx="1114425" cy="323850"/>
            <a:chOff x="3419475" y="828421"/>
            <a:chExt cx="1114425" cy="323850"/>
          </a:xfrm>
        </p:grpSpPr>
        <p:sp>
          <p:nvSpPr>
            <p:cNvPr id="24" name="object 24"/>
            <p:cNvSpPr/>
            <p:nvPr/>
          </p:nvSpPr>
          <p:spPr>
            <a:xfrm>
              <a:off x="3419475" y="828420"/>
              <a:ext cx="47625" cy="257175"/>
            </a:xfrm>
            <a:custGeom>
              <a:avLst/>
              <a:gdLst/>
              <a:ahLst/>
              <a:cxnLst/>
              <a:rect l="l" t="t" r="r" b="b"/>
              <a:pathLst>
                <a:path w="47625" h="257175">
                  <a:moveTo>
                    <a:pt x="44221" y="65925"/>
                  </a:moveTo>
                  <a:lnTo>
                    <a:pt x="2413" y="65925"/>
                  </a:lnTo>
                  <a:lnTo>
                    <a:pt x="2413" y="256921"/>
                  </a:lnTo>
                  <a:lnTo>
                    <a:pt x="44221" y="256921"/>
                  </a:lnTo>
                  <a:lnTo>
                    <a:pt x="44221" y="65925"/>
                  </a:lnTo>
                  <a:close/>
                </a:path>
                <a:path w="47625" h="257175">
                  <a:moveTo>
                    <a:pt x="47371" y="16637"/>
                  </a:moveTo>
                  <a:lnTo>
                    <a:pt x="45339" y="11303"/>
                  </a:lnTo>
                  <a:lnTo>
                    <a:pt x="36957" y="2286"/>
                  </a:lnTo>
                  <a:lnTo>
                    <a:pt x="31115" y="0"/>
                  </a:lnTo>
                  <a:lnTo>
                    <a:pt x="16002" y="0"/>
                  </a:lnTo>
                  <a:lnTo>
                    <a:pt x="10160" y="2286"/>
                  </a:lnTo>
                  <a:lnTo>
                    <a:pt x="2032" y="11303"/>
                  </a:lnTo>
                  <a:lnTo>
                    <a:pt x="0" y="16637"/>
                  </a:lnTo>
                  <a:lnTo>
                    <a:pt x="0" y="28956"/>
                  </a:lnTo>
                  <a:lnTo>
                    <a:pt x="2032" y="34290"/>
                  </a:lnTo>
                  <a:lnTo>
                    <a:pt x="10160" y="43180"/>
                  </a:lnTo>
                  <a:lnTo>
                    <a:pt x="16002" y="45339"/>
                  </a:lnTo>
                  <a:lnTo>
                    <a:pt x="31115" y="45339"/>
                  </a:lnTo>
                  <a:lnTo>
                    <a:pt x="36957" y="43180"/>
                  </a:lnTo>
                  <a:lnTo>
                    <a:pt x="45339" y="34290"/>
                  </a:lnTo>
                  <a:lnTo>
                    <a:pt x="47371" y="28956"/>
                  </a:lnTo>
                  <a:lnTo>
                    <a:pt x="47371" y="16637"/>
                  </a:lnTo>
                  <a:close/>
                </a:path>
              </a:pathLst>
            </a:custGeom>
            <a:solidFill>
              <a:srgbClr val="221F1F"/>
            </a:solidFill>
          </p:spPr>
          <p:txBody>
            <a:bodyPr wrap="square" lIns="0" tIns="0" rIns="0" bIns="0" rtlCol="0"/>
            <a:lstStyle/>
            <a:p>
              <a:endParaRPr/>
            </a:p>
          </p:txBody>
        </p:sp>
        <p:pic>
          <p:nvPicPr>
            <p:cNvPr id="25" name="object 25"/>
            <p:cNvPicPr/>
            <p:nvPr/>
          </p:nvPicPr>
          <p:blipFill>
            <a:blip r:embed="rId11" cstate="print"/>
            <a:stretch>
              <a:fillRect/>
            </a:stretch>
          </p:blipFill>
          <p:spPr>
            <a:xfrm>
              <a:off x="3486150" y="895096"/>
              <a:ext cx="171450" cy="190373"/>
            </a:xfrm>
            <a:prstGeom prst="rect">
              <a:avLst/>
            </a:prstGeom>
          </p:spPr>
        </p:pic>
        <p:pic>
          <p:nvPicPr>
            <p:cNvPr id="26" name="object 26"/>
            <p:cNvPicPr/>
            <p:nvPr/>
          </p:nvPicPr>
          <p:blipFill>
            <a:blip r:embed="rId12" cstate="print"/>
            <a:stretch>
              <a:fillRect/>
            </a:stretch>
          </p:blipFill>
          <p:spPr>
            <a:xfrm>
              <a:off x="3676650" y="895096"/>
              <a:ext cx="161925" cy="190373"/>
            </a:xfrm>
            <a:prstGeom prst="rect">
              <a:avLst/>
            </a:prstGeom>
          </p:spPr>
        </p:pic>
        <p:pic>
          <p:nvPicPr>
            <p:cNvPr id="27" name="object 27"/>
            <p:cNvPicPr/>
            <p:nvPr/>
          </p:nvPicPr>
          <p:blipFill>
            <a:blip r:embed="rId13" cstate="print"/>
            <a:stretch>
              <a:fillRect/>
            </a:stretch>
          </p:blipFill>
          <p:spPr>
            <a:xfrm>
              <a:off x="3876675" y="895096"/>
              <a:ext cx="95250" cy="190373"/>
            </a:xfrm>
            <a:prstGeom prst="rect">
              <a:avLst/>
            </a:prstGeom>
          </p:spPr>
        </p:pic>
        <p:pic>
          <p:nvPicPr>
            <p:cNvPr id="28" name="object 28"/>
            <p:cNvPicPr/>
            <p:nvPr/>
          </p:nvPicPr>
          <p:blipFill>
            <a:blip r:embed="rId14" cstate="print"/>
            <a:stretch>
              <a:fillRect/>
            </a:stretch>
          </p:blipFill>
          <p:spPr>
            <a:xfrm>
              <a:off x="3990975" y="895096"/>
              <a:ext cx="152400" cy="190373"/>
            </a:xfrm>
            <a:prstGeom prst="rect">
              <a:avLst/>
            </a:prstGeom>
          </p:spPr>
        </p:pic>
        <p:sp>
          <p:nvSpPr>
            <p:cNvPr id="29" name="object 29"/>
            <p:cNvSpPr/>
            <p:nvPr/>
          </p:nvSpPr>
          <p:spPr>
            <a:xfrm>
              <a:off x="4181475" y="828420"/>
              <a:ext cx="38100" cy="257175"/>
            </a:xfrm>
            <a:custGeom>
              <a:avLst/>
              <a:gdLst/>
              <a:ahLst/>
              <a:cxnLst/>
              <a:rect l="l" t="t" r="r" b="b"/>
              <a:pathLst>
                <a:path w="38100" h="257175">
                  <a:moveTo>
                    <a:pt x="35344" y="65925"/>
                  </a:moveTo>
                  <a:lnTo>
                    <a:pt x="1905" y="65925"/>
                  </a:lnTo>
                  <a:lnTo>
                    <a:pt x="1905" y="256921"/>
                  </a:lnTo>
                  <a:lnTo>
                    <a:pt x="35344" y="256921"/>
                  </a:lnTo>
                  <a:lnTo>
                    <a:pt x="35344" y="65925"/>
                  </a:lnTo>
                  <a:close/>
                </a:path>
                <a:path w="38100" h="257175">
                  <a:moveTo>
                    <a:pt x="37973" y="16637"/>
                  </a:moveTo>
                  <a:lnTo>
                    <a:pt x="36322" y="11303"/>
                  </a:lnTo>
                  <a:lnTo>
                    <a:pt x="29591" y="2286"/>
                  </a:lnTo>
                  <a:lnTo>
                    <a:pt x="24892" y="0"/>
                  </a:lnTo>
                  <a:lnTo>
                    <a:pt x="12827" y="0"/>
                  </a:lnTo>
                  <a:lnTo>
                    <a:pt x="8128" y="2286"/>
                  </a:lnTo>
                  <a:lnTo>
                    <a:pt x="1651" y="11303"/>
                  </a:lnTo>
                  <a:lnTo>
                    <a:pt x="0" y="16637"/>
                  </a:lnTo>
                  <a:lnTo>
                    <a:pt x="0" y="28956"/>
                  </a:lnTo>
                  <a:lnTo>
                    <a:pt x="1651" y="34290"/>
                  </a:lnTo>
                  <a:lnTo>
                    <a:pt x="4826" y="38735"/>
                  </a:lnTo>
                  <a:lnTo>
                    <a:pt x="8128" y="43180"/>
                  </a:lnTo>
                  <a:lnTo>
                    <a:pt x="12827" y="45339"/>
                  </a:lnTo>
                  <a:lnTo>
                    <a:pt x="24892" y="45339"/>
                  </a:lnTo>
                  <a:lnTo>
                    <a:pt x="29591" y="43180"/>
                  </a:lnTo>
                  <a:lnTo>
                    <a:pt x="36322" y="34290"/>
                  </a:lnTo>
                  <a:lnTo>
                    <a:pt x="37973" y="28956"/>
                  </a:lnTo>
                  <a:lnTo>
                    <a:pt x="37973" y="16637"/>
                  </a:lnTo>
                  <a:close/>
                </a:path>
              </a:pathLst>
            </a:custGeom>
            <a:solidFill>
              <a:srgbClr val="221F1F"/>
            </a:solidFill>
          </p:spPr>
          <p:txBody>
            <a:bodyPr wrap="square" lIns="0" tIns="0" rIns="0" bIns="0" rtlCol="0"/>
            <a:lstStyle/>
            <a:p>
              <a:endParaRPr/>
            </a:p>
          </p:txBody>
        </p:sp>
        <p:pic>
          <p:nvPicPr>
            <p:cNvPr id="30" name="object 30"/>
            <p:cNvPicPr/>
            <p:nvPr/>
          </p:nvPicPr>
          <p:blipFill>
            <a:blip r:embed="rId15" cstate="print"/>
            <a:stretch>
              <a:fillRect/>
            </a:stretch>
          </p:blipFill>
          <p:spPr>
            <a:xfrm>
              <a:off x="4248150" y="847471"/>
              <a:ext cx="104775" cy="237998"/>
            </a:xfrm>
            <a:prstGeom prst="rect">
              <a:avLst/>
            </a:prstGeom>
          </p:spPr>
        </p:pic>
        <p:pic>
          <p:nvPicPr>
            <p:cNvPr id="31" name="object 31"/>
            <p:cNvPicPr/>
            <p:nvPr/>
          </p:nvPicPr>
          <p:blipFill>
            <a:blip r:embed="rId16" cstate="print"/>
            <a:stretch>
              <a:fillRect/>
            </a:stretch>
          </p:blipFill>
          <p:spPr>
            <a:xfrm>
              <a:off x="4362450" y="895096"/>
              <a:ext cx="171196" cy="256920"/>
            </a:xfrm>
            <a:prstGeom prst="rect">
              <a:avLst/>
            </a:prstGeom>
          </p:spPr>
        </p:pic>
      </p:grpSp>
      <p:sp>
        <p:nvSpPr>
          <p:cNvPr id="32" name="object 32"/>
          <p:cNvSpPr txBox="1"/>
          <p:nvPr/>
        </p:nvSpPr>
        <p:spPr>
          <a:xfrm>
            <a:off x="2964814" y="863980"/>
            <a:ext cx="3660775" cy="624840"/>
          </a:xfrm>
          <a:prstGeom prst="rect">
            <a:avLst/>
          </a:prstGeom>
        </p:spPr>
        <p:txBody>
          <a:bodyPr vert="horz" wrap="square" lIns="0" tIns="12065" rIns="0" bIns="0" rtlCol="0">
            <a:spAutoFit/>
          </a:bodyPr>
          <a:lstStyle/>
          <a:p>
            <a:pPr marL="2932430" marR="5080">
              <a:lnSpc>
                <a:spcPct val="110000"/>
              </a:lnSpc>
              <a:spcBef>
                <a:spcPts val="95"/>
              </a:spcBef>
            </a:pPr>
            <a:r>
              <a:rPr sz="800" dirty="0">
                <a:latin typeface="Arial MT"/>
                <a:cs typeface="Arial MT"/>
              </a:rPr>
              <a:t>Creating</a:t>
            </a:r>
            <a:r>
              <a:rPr sz="800" spc="135" dirty="0">
                <a:latin typeface="Arial MT"/>
                <a:cs typeface="Arial MT"/>
              </a:rPr>
              <a:t> </a:t>
            </a:r>
            <a:r>
              <a:rPr sz="800" spc="-10" dirty="0">
                <a:latin typeface="Arial MT"/>
                <a:cs typeface="Arial MT"/>
              </a:rPr>
              <a:t>Value Leveraging Knowledge</a:t>
            </a:r>
            <a:endParaRPr sz="800">
              <a:latin typeface="Arial MT"/>
              <a:cs typeface="Arial MT"/>
            </a:endParaRPr>
          </a:p>
          <a:p>
            <a:pPr marL="12700">
              <a:lnSpc>
                <a:spcPct val="100000"/>
              </a:lnSpc>
              <a:spcBef>
                <a:spcPts val="240"/>
              </a:spcBef>
            </a:pPr>
            <a:r>
              <a:rPr sz="1100" dirty="0">
                <a:solidFill>
                  <a:srgbClr val="221F1F"/>
                </a:solidFill>
                <a:latin typeface="Arial MT"/>
                <a:cs typeface="Arial MT"/>
              </a:rPr>
              <a:t>Dr.</a:t>
            </a:r>
            <a:r>
              <a:rPr sz="1100" spc="180" dirty="0">
                <a:solidFill>
                  <a:srgbClr val="221F1F"/>
                </a:solidFill>
                <a:latin typeface="Arial MT"/>
                <a:cs typeface="Arial MT"/>
              </a:rPr>
              <a:t> </a:t>
            </a:r>
            <a:r>
              <a:rPr sz="1100" dirty="0">
                <a:solidFill>
                  <a:srgbClr val="221F1F"/>
                </a:solidFill>
                <a:latin typeface="Arial MT"/>
                <a:cs typeface="Arial MT"/>
              </a:rPr>
              <a:t>M.</a:t>
            </a:r>
            <a:r>
              <a:rPr sz="1100" spc="75" dirty="0">
                <a:solidFill>
                  <a:srgbClr val="221F1F"/>
                </a:solidFill>
                <a:latin typeface="Arial MT"/>
                <a:cs typeface="Arial MT"/>
              </a:rPr>
              <a:t> </a:t>
            </a:r>
            <a:r>
              <a:rPr sz="1100" dirty="0">
                <a:solidFill>
                  <a:srgbClr val="221F1F"/>
                </a:solidFill>
                <a:latin typeface="Arial MT"/>
                <a:cs typeface="Arial MT"/>
              </a:rPr>
              <a:t>S.</a:t>
            </a:r>
            <a:r>
              <a:rPr sz="1100" spc="80" dirty="0">
                <a:solidFill>
                  <a:srgbClr val="221F1F"/>
                </a:solidFill>
                <a:latin typeface="Arial MT"/>
                <a:cs typeface="Arial MT"/>
              </a:rPr>
              <a:t> </a:t>
            </a:r>
            <a:r>
              <a:rPr sz="1100" dirty="0">
                <a:solidFill>
                  <a:srgbClr val="221F1F"/>
                </a:solidFill>
                <a:latin typeface="Arial MT"/>
                <a:cs typeface="Arial MT"/>
              </a:rPr>
              <a:t>Sheshgiri</a:t>
            </a:r>
            <a:r>
              <a:rPr sz="1100" spc="60" dirty="0">
                <a:solidFill>
                  <a:srgbClr val="221F1F"/>
                </a:solidFill>
                <a:latin typeface="Arial MT"/>
                <a:cs typeface="Arial MT"/>
              </a:rPr>
              <a:t> </a:t>
            </a:r>
            <a:r>
              <a:rPr sz="1100" dirty="0">
                <a:solidFill>
                  <a:srgbClr val="221F1F"/>
                </a:solidFill>
                <a:latin typeface="Arial MT"/>
                <a:cs typeface="Arial MT"/>
              </a:rPr>
              <a:t>Campus,</a:t>
            </a:r>
            <a:r>
              <a:rPr sz="1100" spc="180" dirty="0">
                <a:solidFill>
                  <a:srgbClr val="221F1F"/>
                </a:solidFill>
                <a:latin typeface="Arial MT"/>
                <a:cs typeface="Arial MT"/>
              </a:rPr>
              <a:t> </a:t>
            </a:r>
            <a:r>
              <a:rPr sz="1100" spc="-10" dirty="0">
                <a:solidFill>
                  <a:srgbClr val="221F1F"/>
                </a:solidFill>
                <a:latin typeface="Arial MT"/>
                <a:cs typeface="Arial MT"/>
              </a:rPr>
              <a:t>Belagavi</a:t>
            </a:r>
            <a:endParaRPr sz="1100">
              <a:latin typeface="Arial MT"/>
              <a:cs typeface="Arial MT"/>
            </a:endParaRPr>
          </a:p>
        </p:txBody>
      </p:sp>
      <p:sp>
        <p:nvSpPr>
          <p:cNvPr id="33" name="object 33"/>
          <p:cNvSpPr/>
          <p:nvPr/>
        </p:nvSpPr>
        <p:spPr>
          <a:xfrm>
            <a:off x="5691251" y="861694"/>
            <a:ext cx="0" cy="266700"/>
          </a:xfrm>
          <a:custGeom>
            <a:avLst/>
            <a:gdLst/>
            <a:ahLst/>
            <a:cxnLst/>
            <a:rect l="l" t="t" r="r" b="b"/>
            <a:pathLst>
              <a:path h="266700">
                <a:moveTo>
                  <a:pt x="0" y="0"/>
                </a:moveTo>
                <a:lnTo>
                  <a:pt x="0" y="266700"/>
                </a:lnTo>
              </a:path>
            </a:pathLst>
          </a:custGeom>
          <a:ln w="11128">
            <a:solidFill>
              <a:srgbClr val="EB7C30"/>
            </a:solidFill>
          </a:ln>
        </p:spPr>
        <p:txBody>
          <a:bodyPr wrap="square" lIns="0" tIns="0" rIns="0" bIns="0" rtlCol="0"/>
          <a:lstStyle/>
          <a:p>
            <a:endParaRPr/>
          </a:p>
        </p:txBody>
      </p:sp>
      <p:sp>
        <p:nvSpPr>
          <p:cNvPr id="34" name="object 34"/>
          <p:cNvSpPr/>
          <p:nvPr/>
        </p:nvSpPr>
        <p:spPr>
          <a:xfrm>
            <a:off x="1700276" y="1556892"/>
            <a:ext cx="7305675" cy="0"/>
          </a:xfrm>
          <a:custGeom>
            <a:avLst/>
            <a:gdLst/>
            <a:ahLst/>
            <a:cxnLst/>
            <a:rect l="l" t="t" r="r" b="b"/>
            <a:pathLst>
              <a:path w="7305675">
                <a:moveTo>
                  <a:pt x="0" y="0"/>
                </a:moveTo>
                <a:lnTo>
                  <a:pt x="7305421" y="0"/>
                </a:lnTo>
              </a:path>
            </a:pathLst>
          </a:custGeom>
          <a:ln w="13903">
            <a:solidFill>
              <a:srgbClr val="000000"/>
            </a:solidFill>
          </a:ln>
        </p:spPr>
        <p:txBody>
          <a:bodyPr wrap="square" lIns="0" tIns="0" rIns="0" bIns="0" rtlCol="0"/>
          <a:lstStyle/>
          <a:p>
            <a:endParaRPr/>
          </a:p>
        </p:txBody>
      </p:sp>
      <p:sp>
        <p:nvSpPr>
          <p:cNvPr id="35" name="object 35"/>
          <p:cNvSpPr txBox="1">
            <a:spLocks noGrp="1"/>
          </p:cNvSpPr>
          <p:nvPr>
            <p:ph type="sldNum" sz="quarter" idx="7"/>
          </p:nvPr>
        </p:nvSpPr>
        <p:spPr>
          <a:xfrm>
            <a:off x="10005059" y="5604922"/>
            <a:ext cx="216534" cy="269304"/>
          </a:xfrm>
          <a:prstGeom prst="rect">
            <a:avLst/>
          </a:prstGeom>
        </p:spPr>
        <p:txBody>
          <a:bodyPr vert="horz" wrap="square" lIns="0" tIns="0" rIns="0" bIns="0" rtlCol="0">
            <a:spAutoFit/>
          </a:bodyPr>
          <a:lstStyle/>
          <a:p>
            <a:pPr marL="38100">
              <a:lnSpc>
                <a:spcPts val="2090"/>
              </a:lnSpc>
            </a:pPr>
            <a:r>
              <a:rPr lang="en-IN" spc="-50" dirty="0"/>
              <a:t>.</a:t>
            </a:r>
            <a:endParaRPr spc="-50" dirty="0"/>
          </a:p>
        </p:txBody>
      </p:sp>
      <p:pic>
        <p:nvPicPr>
          <p:cNvPr id="38" name="Image 0"/>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a:xfrm>
            <a:off x="1760085" y="1943100"/>
            <a:ext cx="3223529" cy="3028355"/>
          </a:xfrm>
          <a:prstGeom prst="rect">
            <a:avLst/>
          </a:prstGeom>
        </p:spPr>
      </p:pic>
      <p:sp>
        <p:nvSpPr>
          <p:cNvPr id="3" name="TextBox 2">
            <a:extLst>
              <a:ext uri="{FF2B5EF4-FFF2-40B4-BE49-F238E27FC236}">
                <a16:creationId xmlns:a16="http://schemas.microsoft.com/office/drawing/2014/main" id="{D3B21B0D-4F28-3E13-02F3-9BCFAB275F88}"/>
              </a:ext>
            </a:extLst>
          </p:cNvPr>
          <p:cNvSpPr txBox="1"/>
          <p:nvPr/>
        </p:nvSpPr>
        <p:spPr>
          <a:xfrm>
            <a:off x="10299700" y="5604922"/>
            <a:ext cx="312906" cy="369332"/>
          </a:xfrm>
          <a:prstGeom prst="rect">
            <a:avLst/>
          </a:prstGeom>
          <a:noFill/>
        </p:spPr>
        <p:txBody>
          <a:bodyPr wrap="none" rtlCol="0">
            <a:spAutoFit/>
          </a:bodyPr>
          <a:lstStyle/>
          <a:p>
            <a:r>
              <a:rPr lang="en-IN"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54175" y="1712912"/>
            <a:ext cx="2327275" cy="323807"/>
          </a:xfrm>
          <a:prstGeom prst="rect">
            <a:avLst/>
          </a:prstGeom>
        </p:spPr>
        <p:txBody>
          <a:bodyPr vert="horz" wrap="square" lIns="0" tIns="15875" rIns="0" bIns="0" rtlCol="0">
            <a:spAutoFit/>
          </a:bodyPr>
          <a:lstStyle/>
          <a:p>
            <a:pPr marL="12700">
              <a:lnSpc>
                <a:spcPct val="100000"/>
              </a:lnSpc>
              <a:spcBef>
                <a:spcPts val="125"/>
              </a:spcBef>
            </a:pPr>
            <a:r>
              <a:rPr lang="en-IN" sz="2000" dirty="0">
                <a:latin typeface="Times New Roman" panose="02020603050405020304" pitchFamily="18" charset="0"/>
                <a:cs typeface="Times New Roman" panose="02020603050405020304" pitchFamily="18" charset="0"/>
              </a:rPr>
              <a:t>Team Details</a:t>
            </a:r>
            <a:endParaRPr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2725593" y="5096637"/>
            <a:ext cx="4978400" cy="582852"/>
          </a:xfrm>
          <a:prstGeom prst="rect">
            <a:avLst/>
          </a:prstGeom>
        </p:spPr>
        <p:txBody>
          <a:bodyPr vert="horz" wrap="square" lIns="0" tIns="15875" rIns="0" bIns="0" rtlCol="0">
            <a:spAutoFit/>
          </a:bodyPr>
          <a:lstStyle/>
          <a:p>
            <a:pPr marL="12700" algn="ctr">
              <a:lnSpc>
                <a:spcPct val="100000"/>
              </a:lnSpc>
              <a:spcBef>
                <a:spcPts val="125"/>
              </a:spcBef>
            </a:pPr>
            <a:r>
              <a:rPr dirty="0">
                <a:latin typeface="Times New Roman" panose="02020603050405020304" pitchFamily="18" charset="0"/>
                <a:cs typeface="Times New Roman" panose="02020603050405020304" pitchFamily="18" charset="0"/>
              </a:rPr>
              <a:t>Under</a:t>
            </a:r>
            <a:r>
              <a:rPr spc="-170" dirty="0">
                <a:latin typeface="Times New Roman" panose="02020603050405020304" pitchFamily="18" charset="0"/>
                <a:cs typeface="Times New Roman" panose="02020603050405020304" pitchFamily="18" charset="0"/>
              </a:rPr>
              <a:t> </a:t>
            </a:r>
            <a:r>
              <a:rPr spc="-70" dirty="0">
                <a:latin typeface="Times New Roman" panose="02020603050405020304" pitchFamily="18" charset="0"/>
                <a:cs typeface="Times New Roman" panose="02020603050405020304" pitchFamily="18" charset="0"/>
              </a:rPr>
              <a:t>the</a:t>
            </a:r>
            <a:r>
              <a:rPr spc="-17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guidance</a:t>
            </a:r>
            <a:r>
              <a:rPr spc="-170" dirty="0">
                <a:latin typeface="Times New Roman" panose="02020603050405020304" pitchFamily="18" charset="0"/>
                <a:cs typeface="Times New Roman" panose="02020603050405020304" pitchFamily="18" charset="0"/>
              </a:rPr>
              <a:t> </a:t>
            </a:r>
            <a:r>
              <a:rPr spc="-70" dirty="0">
                <a:latin typeface="Times New Roman" panose="02020603050405020304" pitchFamily="18" charset="0"/>
                <a:cs typeface="Times New Roman" panose="02020603050405020304" pitchFamily="18" charset="0"/>
              </a:rPr>
              <a:t>of</a:t>
            </a:r>
            <a:r>
              <a:rPr spc="-170" dirty="0">
                <a:latin typeface="Times New Roman" panose="02020603050405020304" pitchFamily="18" charset="0"/>
                <a:cs typeface="Times New Roman" panose="02020603050405020304" pitchFamily="18" charset="0"/>
              </a:rPr>
              <a:t> </a:t>
            </a:r>
            <a:r>
              <a:rPr lang="en-IN" spc="-170" dirty="0">
                <a:latin typeface="Times New Roman" panose="02020603050405020304" pitchFamily="18" charset="0"/>
                <a:cs typeface="Times New Roman" panose="02020603050405020304" pitchFamily="18" charset="0"/>
              </a:rPr>
              <a:t> </a:t>
            </a:r>
          </a:p>
          <a:p>
            <a:pPr marL="12700" algn="ctr">
              <a:lnSpc>
                <a:spcPct val="100000"/>
              </a:lnSpc>
              <a:spcBef>
                <a:spcPts val="125"/>
              </a:spcBef>
            </a:pPr>
            <a:r>
              <a:rPr lang="en-IN" spc="-70" dirty="0">
                <a:latin typeface="Times New Roman" panose="02020603050405020304" pitchFamily="18" charset="0"/>
                <a:cs typeface="Times New Roman" panose="02020603050405020304" pitchFamily="18" charset="0"/>
              </a:rPr>
              <a:t>Dr. Prema T. </a:t>
            </a:r>
            <a:r>
              <a:rPr lang="en-IN" spc="-70" dirty="0" err="1">
                <a:latin typeface="Times New Roman" panose="02020603050405020304" pitchFamily="18" charset="0"/>
                <a:cs typeface="Times New Roman" panose="02020603050405020304" pitchFamily="18" charset="0"/>
              </a:rPr>
              <a:t>Akkasaligar</a:t>
            </a:r>
            <a:endParaRPr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1957705" y="438023"/>
            <a:ext cx="800100" cy="809371"/>
          </a:xfrm>
          <a:prstGeom prst="rect">
            <a:avLst/>
          </a:prstGeom>
        </p:spPr>
      </p:pic>
      <p:grpSp>
        <p:nvGrpSpPr>
          <p:cNvPr id="5" name="object 5"/>
          <p:cNvGrpSpPr/>
          <p:nvPr/>
        </p:nvGrpSpPr>
        <p:grpSpPr>
          <a:xfrm>
            <a:off x="3038475" y="457073"/>
            <a:ext cx="390525" cy="248285"/>
            <a:chOff x="3038475" y="457073"/>
            <a:chExt cx="390525" cy="248285"/>
          </a:xfrm>
        </p:grpSpPr>
        <p:pic>
          <p:nvPicPr>
            <p:cNvPr id="6" name="object 6"/>
            <p:cNvPicPr/>
            <p:nvPr/>
          </p:nvPicPr>
          <p:blipFill>
            <a:blip r:embed="rId3" cstate="print"/>
            <a:stretch>
              <a:fillRect/>
            </a:stretch>
          </p:blipFill>
          <p:spPr>
            <a:xfrm>
              <a:off x="3038475" y="457073"/>
              <a:ext cx="200025" cy="247523"/>
            </a:xfrm>
            <a:prstGeom prst="rect">
              <a:avLst/>
            </a:prstGeom>
          </p:spPr>
        </p:pic>
        <p:sp>
          <p:nvSpPr>
            <p:cNvPr id="7" name="object 7"/>
            <p:cNvSpPr/>
            <p:nvPr/>
          </p:nvSpPr>
          <p:spPr>
            <a:xfrm>
              <a:off x="3276600" y="457199"/>
              <a:ext cx="152400" cy="247650"/>
            </a:xfrm>
            <a:custGeom>
              <a:avLst/>
              <a:gdLst/>
              <a:ahLst/>
              <a:cxnLst/>
              <a:rect l="l" t="t" r="r" b="b"/>
              <a:pathLst>
                <a:path w="152400" h="247650">
                  <a:moveTo>
                    <a:pt x="152019" y="212090"/>
                  </a:moveTo>
                  <a:lnTo>
                    <a:pt x="40754" y="212090"/>
                  </a:lnTo>
                  <a:lnTo>
                    <a:pt x="40754" y="0"/>
                  </a:lnTo>
                  <a:lnTo>
                    <a:pt x="0" y="0"/>
                  </a:lnTo>
                  <a:lnTo>
                    <a:pt x="0" y="212090"/>
                  </a:lnTo>
                  <a:lnTo>
                    <a:pt x="0" y="247650"/>
                  </a:lnTo>
                  <a:lnTo>
                    <a:pt x="152019" y="247650"/>
                  </a:lnTo>
                  <a:lnTo>
                    <a:pt x="152019" y="212090"/>
                  </a:lnTo>
                  <a:close/>
                </a:path>
              </a:pathLst>
            </a:custGeom>
            <a:solidFill>
              <a:srgbClr val="221F1F"/>
            </a:solidFill>
          </p:spPr>
          <p:txBody>
            <a:bodyPr wrap="square" lIns="0" tIns="0" rIns="0" bIns="0" rtlCol="0"/>
            <a:lstStyle/>
            <a:p>
              <a:endParaRPr/>
            </a:p>
          </p:txBody>
        </p:sp>
      </p:grpSp>
      <p:sp>
        <p:nvSpPr>
          <p:cNvPr id="8" name="object 8"/>
          <p:cNvSpPr/>
          <p:nvPr/>
        </p:nvSpPr>
        <p:spPr>
          <a:xfrm>
            <a:off x="3476625" y="457199"/>
            <a:ext cx="161290" cy="247650"/>
          </a:xfrm>
          <a:custGeom>
            <a:avLst/>
            <a:gdLst/>
            <a:ahLst/>
            <a:cxnLst/>
            <a:rect l="l" t="t" r="r" b="b"/>
            <a:pathLst>
              <a:path w="161289" h="247650">
                <a:moveTo>
                  <a:pt x="161290" y="212090"/>
                </a:moveTo>
                <a:lnTo>
                  <a:pt x="41402" y="212090"/>
                </a:lnTo>
                <a:lnTo>
                  <a:pt x="41402" y="137160"/>
                </a:lnTo>
                <a:lnTo>
                  <a:pt x="144653" y="137160"/>
                </a:lnTo>
                <a:lnTo>
                  <a:pt x="144653" y="102870"/>
                </a:lnTo>
                <a:lnTo>
                  <a:pt x="41402" y="102870"/>
                </a:lnTo>
                <a:lnTo>
                  <a:pt x="41402" y="35560"/>
                </a:lnTo>
                <a:lnTo>
                  <a:pt x="159766" y="35560"/>
                </a:lnTo>
                <a:lnTo>
                  <a:pt x="159766" y="0"/>
                </a:lnTo>
                <a:lnTo>
                  <a:pt x="0" y="0"/>
                </a:lnTo>
                <a:lnTo>
                  <a:pt x="0" y="35560"/>
                </a:lnTo>
                <a:lnTo>
                  <a:pt x="0" y="102870"/>
                </a:lnTo>
                <a:lnTo>
                  <a:pt x="0" y="137160"/>
                </a:lnTo>
                <a:lnTo>
                  <a:pt x="0" y="212090"/>
                </a:lnTo>
                <a:lnTo>
                  <a:pt x="0" y="247650"/>
                </a:lnTo>
                <a:lnTo>
                  <a:pt x="161290" y="247650"/>
                </a:lnTo>
                <a:lnTo>
                  <a:pt x="161290" y="212090"/>
                </a:lnTo>
                <a:close/>
              </a:path>
            </a:pathLst>
          </a:custGeom>
          <a:solidFill>
            <a:srgbClr val="221F1F"/>
          </a:solidFill>
        </p:spPr>
        <p:txBody>
          <a:bodyPr wrap="square" lIns="0" tIns="0" rIns="0" bIns="0" rtlCol="0"/>
          <a:lstStyle/>
          <a:p>
            <a:endParaRPr/>
          </a:p>
        </p:txBody>
      </p:sp>
      <p:grpSp>
        <p:nvGrpSpPr>
          <p:cNvPr id="9" name="object 9"/>
          <p:cNvGrpSpPr/>
          <p:nvPr/>
        </p:nvGrpSpPr>
        <p:grpSpPr>
          <a:xfrm>
            <a:off x="3762375" y="457200"/>
            <a:ext cx="581025" cy="247650"/>
            <a:chOff x="3762375" y="457200"/>
            <a:chExt cx="581025" cy="247650"/>
          </a:xfrm>
        </p:grpSpPr>
        <p:sp>
          <p:nvSpPr>
            <p:cNvPr id="10" name="object 10"/>
            <p:cNvSpPr/>
            <p:nvPr/>
          </p:nvSpPr>
          <p:spPr>
            <a:xfrm>
              <a:off x="3762375" y="457199"/>
              <a:ext cx="200025" cy="247650"/>
            </a:xfrm>
            <a:custGeom>
              <a:avLst/>
              <a:gdLst/>
              <a:ahLst/>
              <a:cxnLst/>
              <a:rect l="l" t="t" r="r" b="b"/>
              <a:pathLst>
                <a:path w="200025" h="247650">
                  <a:moveTo>
                    <a:pt x="199644" y="0"/>
                  </a:moveTo>
                  <a:lnTo>
                    <a:pt x="0" y="0"/>
                  </a:lnTo>
                  <a:lnTo>
                    <a:pt x="0" y="35560"/>
                  </a:lnTo>
                  <a:lnTo>
                    <a:pt x="78740" y="35560"/>
                  </a:lnTo>
                  <a:lnTo>
                    <a:pt x="78740" y="247650"/>
                  </a:lnTo>
                  <a:lnTo>
                    <a:pt x="120777" y="247650"/>
                  </a:lnTo>
                  <a:lnTo>
                    <a:pt x="120777" y="35560"/>
                  </a:lnTo>
                  <a:lnTo>
                    <a:pt x="199644" y="35560"/>
                  </a:lnTo>
                  <a:lnTo>
                    <a:pt x="199644" y="0"/>
                  </a:lnTo>
                  <a:close/>
                </a:path>
              </a:pathLst>
            </a:custGeom>
            <a:solidFill>
              <a:srgbClr val="221F1F"/>
            </a:solidFill>
          </p:spPr>
          <p:txBody>
            <a:bodyPr wrap="square" lIns="0" tIns="0" rIns="0" bIns="0" rtlCol="0"/>
            <a:lstStyle/>
            <a:p>
              <a:endParaRPr/>
            </a:p>
          </p:txBody>
        </p:sp>
        <p:pic>
          <p:nvPicPr>
            <p:cNvPr id="11" name="object 11"/>
            <p:cNvPicPr/>
            <p:nvPr/>
          </p:nvPicPr>
          <p:blipFill>
            <a:blip r:embed="rId4" cstate="print"/>
            <a:stretch>
              <a:fillRect/>
            </a:stretch>
          </p:blipFill>
          <p:spPr>
            <a:xfrm>
              <a:off x="3981450" y="514222"/>
              <a:ext cx="161925" cy="190373"/>
            </a:xfrm>
            <a:prstGeom prst="rect">
              <a:avLst/>
            </a:prstGeom>
          </p:spPr>
        </p:pic>
        <p:pic>
          <p:nvPicPr>
            <p:cNvPr id="12" name="object 12"/>
            <p:cNvPicPr/>
            <p:nvPr/>
          </p:nvPicPr>
          <p:blipFill>
            <a:blip r:embed="rId5" cstate="print"/>
            <a:stretch>
              <a:fillRect/>
            </a:stretch>
          </p:blipFill>
          <p:spPr>
            <a:xfrm>
              <a:off x="4181475" y="514222"/>
              <a:ext cx="161925" cy="190373"/>
            </a:xfrm>
            <a:prstGeom prst="rect">
              <a:avLst/>
            </a:prstGeom>
          </p:spPr>
        </p:pic>
      </p:grpSp>
      <p:grpSp>
        <p:nvGrpSpPr>
          <p:cNvPr id="13" name="object 13"/>
          <p:cNvGrpSpPr/>
          <p:nvPr/>
        </p:nvGrpSpPr>
        <p:grpSpPr>
          <a:xfrm>
            <a:off x="4391025" y="438023"/>
            <a:ext cx="142875" cy="266065"/>
            <a:chOff x="4391025" y="438023"/>
            <a:chExt cx="142875" cy="266065"/>
          </a:xfrm>
        </p:grpSpPr>
        <p:sp>
          <p:nvSpPr>
            <p:cNvPr id="14" name="object 14"/>
            <p:cNvSpPr/>
            <p:nvPr/>
          </p:nvSpPr>
          <p:spPr>
            <a:xfrm>
              <a:off x="4391025" y="438023"/>
              <a:ext cx="38735" cy="266065"/>
            </a:xfrm>
            <a:custGeom>
              <a:avLst/>
              <a:gdLst/>
              <a:ahLst/>
              <a:cxnLst/>
              <a:rect l="l" t="t" r="r" b="b"/>
              <a:pathLst>
                <a:path w="38735" h="266065">
                  <a:moveTo>
                    <a:pt x="38226" y="0"/>
                  </a:moveTo>
                  <a:lnTo>
                    <a:pt x="0" y="0"/>
                  </a:lnTo>
                  <a:lnTo>
                    <a:pt x="0" y="266064"/>
                  </a:lnTo>
                  <a:lnTo>
                    <a:pt x="38226" y="266064"/>
                  </a:lnTo>
                  <a:lnTo>
                    <a:pt x="38226" y="169163"/>
                  </a:lnTo>
                  <a:lnTo>
                    <a:pt x="31369" y="169163"/>
                  </a:lnTo>
                  <a:lnTo>
                    <a:pt x="9905" y="168401"/>
                  </a:lnTo>
                  <a:lnTo>
                    <a:pt x="13080" y="136398"/>
                  </a:lnTo>
                  <a:lnTo>
                    <a:pt x="30352" y="98551"/>
                  </a:lnTo>
                  <a:lnTo>
                    <a:pt x="35433" y="92710"/>
                  </a:lnTo>
                  <a:lnTo>
                    <a:pt x="38226" y="90042"/>
                  </a:lnTo>
                  <a:lnTo>
                    <a:pt x="38226" y="0"/>
                  </a:lnTo>
                  <a:close/>
                </a:path>
              </a:pathLst>
            </a:custGeom>
            <a:solidFill>
              <a:srgbClr val="221F1F"/>
            </a:solidFill>
          </p:spPr>
          <p:txBody>
            <a:bodyPr wrap="square" lIns="0" tIns="0" rIns="0" bIns="0" rtlCol="0"/>
            <a:lstStyle/>
            <a:p>
              <a:endParaRPr/>
            </a:p>
          </p:txBody>
        </p:sp>
        <p:pic>
          <p:nvPicPr>
            <p:cNvPr id="15" name="object 15"/>
            <p:cNvPicPr/>
            <p:nvPr/>
          </p:nvPicPr>
          <p:blipFill>
            <a:blip r:embed="rId6" cstate="print"/>
            <a:stretch>
              <a:fillRect/>
            </a:stretch>
          </p:blipFill>
          <p:spPr>
            <a:xfrm>
              <a:off x="4400930" y="510413"/>
              <a:ext cx="132461" cy="193675"/>
            </a:xfrm>
            <a:prstGeom prst="rect">
              <a:avLst/>
            </a:prstGeom>
          </p:spPr>
        </p:pic>
      </p:grpSp>
      <p:pic>
        <p:nvPicPr>
          <p:cNvPr id="16" name="object 16"/>
          <p:cNvPicPr/>
          <p:nvPr/>
        </p:nvPicPr>
        <p:blipFill>
          <a:blip r:embed="rId7" cstate="print"/>
          <a:stretch>
            <a:fillRect/>
          </a:stretch>
        </p:blipFill>
        <p:spPr>
          <a:xfrm>
            <a:off x="4600575" y="514223"/>
            <a:ext cx="152400" cy="190373"/>
          </a:xfrm>
          <a:prstGeom prst="rect">
            <a:avLst/>
          </a:prstGeom>
        </p:spPr>
      </p:pic>
      <p:pic>
        <p:nvPicPr>
          <p:cNvPr id="17" name="object 17"/>
          <p:cNvPicPr/>
          <p:nvPr/>
        </p:nvPicPr>
        <p:blipFill>
          <a:blip r:embed="rId8" cstate="print"/>
          <a:stretch>
            <a:fillRect/>
          </a:stretch>
        </p:blipFill>
        <p:spPr>
          <a:xfrm>
            <a:off x="4800600" y="514223"/>
            <a:ext cx="171450" cy="190373"/>
          </a:xfrm>
          <a:prstGeom prst="rect">
            <a:avLst/>
          </a:prstGeom>
        </p:spPr>
      </p:pic>
      <p:pic>
        <p:nvPicPr>
          <p:cNvPr id="18" name="object 18"/>
          <p:cNvPicPr/>
          <p:nvPr/>
        </p:nvPicPr>
        <p:blipFill>
          <a:blip r:embed="rId9" cstate="print"/>
          <a:stretch>
            <a:fillRect/>
          </a:stretch>
        </p:blipFill>
        <p:spPr>
          <a:xfrm>
            <a:off x="5029200" y="438023"/>
            <a:ext cx="971550" cy="333248"/>
          </a:xfrm>
          <a:prstGeom prst="rect">
            <a:avLst/>
          </a:prstGeom>
        </p:spPr>
      </p:pic>
      <p:sp>
        <p:nvSpPr>
          <p:cNvPr id="19" name="object 19"/>
          <p:cNvSpPr/>
          <p:nvPr/>
        </p:nvSpPr>
        <p:spPr>
          <a:xfrm>
            <a:off x="6048375" y="438048"/>
            <a:ext cx="47625" cy="266065"/>
          </a:xfrm>
          <a:custGeom>
            <a:avLst/>
            <a:gdLst/>
            <a:ahLst/>
            <a:cxnLst/>
            <a:rect l="l" t="t" r="r" b="b"/>
            <a:pathLst>
              <a:path w="47625" h="266065">
                <a:moveTo>
                  <a:pt x="47039" y="0"/>
                </a:moveTo>
                <a:lnTo>
                  <a:pt x="0" y="0"/>
                </a:lnTo>
                <a:lnTo>
                  <a:pt x="0" y="266039"/>
                </a:lnTo>
                <a:lnTo>
                  <a:pt x="47039" y="266039"/>
                </a:lnTo>
                <a:lnTo>
                  <a:pt x="47039" y="0"/>
                </a:lnTo>
                <a:close/>
              </a:path>
            </a:pathLst>
          </a:custGeom>
          <a:solidFill>
            <a:srgbClr val="221F1F"/>
          </a:solidFill>
        </p:spPr>
        <p:txBody>
          <a:bodyPr wrap="square" lIns="0" tIns="0" rIns="0" bIns="0" rtlCol="0"/>
          <a:lstStyle/>
          <a:p>
            <a:endParaRPr/>
          </a:p>
        </p:txBody>
      </p:sp>
      <p:grpSp>
        <p:nvGrpSpPr>
          <p:cNvPr id="20" name="object 20"/>
          <p:cNvGrpSpPr/>
          <p:nvPr/>
        </p:nvGrpSpPr>
        <p:grpSpPr>
          <a:xfrm>
            <a:off x="3038475" y="761822"/>
            <a:ext cx="371475" cy="257175"/>
            <a:chOff x="3038475" y="761822"/>
            <a:chExt cx="371475" cy="257175"/>
          </a:xfrm>
        </p:grpSpPr>
        <p:pic>
          <p:nvPicPr>
            <p:cNvPr id="21" name="object 21"/>
            <p:cNvPicPr/>
            <p:nvPr/>
          </p:nvPicPr>
          <p:blipFill>
            <a:blip r:embed="rId10" cstate="print"/>
            <a:stretch>
              <a:fillRect/>
            </a:stretch>
          </p:blipFill>
          <p:spPr>
            <a:xfrm>
              <a:off x="3038475" y="761822"/>
              <a:ext cx="180975" cy="257098"/>
            </a:xfrm>
            <a:prstGeom prst="rect">
              <a:avLst/>
            </a:prstGeom>
          </p:spPr>
        </p:pic>
        <p:pic>
          <p:nvPicPr>
            <p:cNvPr id="22" name="object 22"/>
            <p:cNvPicPr/>
            <p:nvPr/>
          </p:nvPicPr>
          <p:blipFill>
            <a:blip r:embed="rId11" cstate="print"/>
            <a:stretch>
              <a:fillRect/>
            </a:stretch>
          </p:blipFill>
          <p:spPr>
            <a:xfrm>
              <a:off x="3257550" y="828471"/>
              <a:ext cx="152400" cy="180924"/>
            </a:xfrm>
            <a:prstGeom prst="rect">
              <a:avLst/>
            </a:prstGeom>
          </p:spPr>
        </p:pic>
      </p:grpSp>
      <p:grpSp>
        <p:nvGrpSpPr>
          <p:cNvPr id="23" name="object 23"/>
          <p:cNvGrpSpPr/>
          <p:nvPr/>
        </p:nvGrpSpPr>
        <p:grpSpPr>
          <a:xfrm>
            <a:off x="3457575" y="761745"/>
            <a:ext cx="1114425" cy="323850"/>
            <a:chOff x="3457575" y="761745"/>
            <a:chExt cx="1114425" cy="323850"/>
          </a:xfrm>
        </p:grpSpPr>
        <p:sp>
          <p:nvSpPr>
            <p:cNvPr id="24" name="object 24"/>
            <p:cNvSpPr/>
            <p:nvPr/>
          </p:nvSpPr>
          <p:spPr>
            <a:xfrm>
              <a:off x="3457575" y="761745"/>
              <a:ext cx="47625" cy="247650"/>
            </a:xfrm>
            <a:custGeom>
              <a:avLst/>
              <a:gdLst/>
              <a:ahLst/>
              <a:cxnLst/>
              <a:rect l="l" t="t" r="r" b="b"/>
              <a:pathLst>
                <a:path w="47625" h="247650">
                  <a:moveTo>
                    <a:pt x="44221" y="63474"/>
                  </a:moveTo>
                  <a:lnTo>
                    <a:pt x="2413" y="63474"/>
                  </a:lnTo>
                  <a:lnTo>
                    <a:pt x="2413" y="247396"/>
                  </a:lnTo>
                  <a:lnTo>
                    <a:pt x="44221" y="247396"/>
                  </a:lnTo>
                  <a:lnTo>
                    <a:pt x="44221" y="63474"/>
                  </a:lnTo>
                  <a:close/>
                </a:path>
                <a:path w="47625" h="247650">
                  <a:moveTo>
                    <a:pt x="47371" y="16002"/>
                  </a:moveTo>
                  <a:lnTo>
                    <a:pt x="45339" y="10795"/>
                  </a:lnTo>
                  <a:lnTo>
                    <a:pt x="41148" y="6604"/>
                  </a:lnTo>
                  <a:lnTo>
                    <a:pt x="36957" y="2159"/>
                  </a:lnTo>
                  <a:lnTo>
                    <a:pt x="31115" y="0"/>
                  </a:lnTo>
                  <a:lnTo>
                    <a:pt x="16002" y="0"/>
                  </a:lnTo>
                  <a:lnTo>
                    <a:pt x="10160" y="2159"/>
                  </a:lnTo>
                  <a:lnTo>
                    <a:pt x="2032" y="10795"/>
                  </a:lnTo>
                  <a:lnTo>
                    <a:pt x="0" y="16002"/>
                  </a:lnTo>
                  <a:lnTo>
                    <a:pt x="0" y="27940"/>
                  </a:lnTo>
                  <a:lnTo>
                    <a:pt x="2032" y="33020"/>
                  </a:lnTo>
                  <a:lnTo>
                    <a:pt x="10160" y="41529"/>
                  </a:lnTo>
                  <a:lnTo>
                    <a:pt x="16002" y="43688"/>
                  </a:lnTo>
                  <a:lnTo>
                    <a:pt x="31115" y="43688"/>
                  </a:lnTo>
                  <a:lnTo>
                    <a:pt x="36957" y="41529"/>
                  </a:lnTo>
                  <a:lnTo>
                    <a:pt x="45339" y="33020"/>
                  </a:lnTo>
                  <a:lnTo>
                    <a:pt x="47371" y="27940"/>
                  </a:lnTo>
                  <a:lnTo>
                    <a:pt x="47371" y="16002"/>
                  </a:lnTo>
                  <a:close/>
                </a:path>
              </a:pathLst>
            </a:custGeom>
            <a:solidFill>
              <a:srgbClr val="221F1F"/>
            </a:solidFill>
          </p:spPr>
          <p:txBody>
            <a:bodyPr wrap="square" lIns="0" tIns="0" rIns="0" bIns="0" rtlCol="0"/>
            <a:lstStyle/>
            <a:p>
              <a:endParaRPr/>
            </a:p>
          </p:txBody>
        </p:sp>
        <p:pic>
          <p:nvPicPr>
            <p:cNvPr id="25" name="object 25"/>
            <p:cNvPicPr/>
            <p:nvPr/>
          </p:nvPicPr>
          <p:blipFill>
            <a:blip r:embed="rId12" cstate="print"/>
            <a:stretch>
              <a:fillRect/>
            </a:stretch>
          </p:blipFill>
          <p:spPr>
            <a:xfrm>
              <a:off x="3524250" y="828471"/>
              <a:ext cx="171450" cy="180924"/>
            </a:xfrm>
            <a:prstGeom prst="rect">
              <a:avLst/>
            </a:prstGeom>
          </p:spPr>
        </p:pic>
        <p:pic>
          <p:nvPicPr>
            <p:cNvPr id="26" name="object 26"/>
            <p:cNvPicPr/>
            <p:nvPr/>
          </p:nvPicPr>
          <p:blipFill>
            <a:blip r:embed="rId13" cstate="print"/>
            <a:stretch>
              <a:fillRect/>
            </a:stretch>
          </p:blipFill>
          <p:spPr>
            <a:xfrm>
              <a:off x="3714750" y="828471"/>
              <a:ext cx="161925" cy="190449"/>
            </a:xfrm>
            <a:prstGeom prst="rect">
              <a:avLst/>
            </a:prstGeom>
          </p:spPr>
        </p:pic>
        <p:pic>
          <p:nvPicPr>
            <p:cNvPr id="27" name="object 27"/>
            <p:cNvPicPr/>
            <p:nvPr/>
          </p:nvPicPr>
          <p:blipFill>
            <a:blip r:embed="rId14" cstate="print"/>
            <a:stretch>
              <a:fillRect/>
            </a:stretch>
          </p:blipFill>
          <p:spPr>
            <a:xfrm>
              <a:off x="3914775" y="828471"/>
              <a:ext cx="95250" cy="180924"/>
            </a:xfrm>
            <a:prstGeom prst="rect">
              <a:avLst/>
            </a:prstGeom>
          </p:spPr>
        </p:pic>
        <p:pic>
          <p:nvPicPr>
            <p:cNvPr id="28" name="object 28"/>
            <p:cNvPicPr/>
            <p:nvPr/>
          </p:nvPicPr>
          <p:blipFill>
            <a:blip r:embed="rId15" cstate="print"/>
            <a:stretch>
              <a:fillRect/>
            </a:stretch>
          </p:blipFill>
          <p:spPr>
            <a:xfrm>
              <a:off x="4029075" y="828471"/>
              <a:ext cx="152400" cy="190449"/>
            </a:xfrm>
            <a:prstGeom prst="rect">
              <a:avLst/>
            </a:prstGeom>
          </p:spPr>
        </p:pic>
        <p:sp>
          <p:nvSpPr>
            <p:cNvPr id="29" name="object 29"/>
            <p:cNvSpPr/>
            <p:nvPr/>
          </p:nvSpPr>
          <p:spPr>
            <a:xfrm>
              <a:off x="4210050" y="761745"/>
              <a:ext cx="47625" cy="247650"/>
            </a:xfrm>
            <a:custGeom>
              <a:avLst/>
              <a:gdLst/>
              <a:ahLst/>
              <a:cxnLst/>
              <a:rect l="l" t="t" r="r" b="b"/>
              <a:pathLst>
                <a:path w="47625" h="247650">
                  <a:moveTo>
                    <a:pt x="44221" y="63474"/>
                  </a:moveTo>
                  <a:lnTo>
                    <a:pt x="2413" y="63474"/>
                  </a:lnTo>
                  <a:lnTo>
                    <a:pt x="2413" y="247396"/>
                  </a:lnTo>
                  <a:lnTo>
                    <a:pt x="44221" y="247396"/>
                  </a:lnTo>
                  <a:lnTo>
                    <a:pt x="44221" y="63474"/>
                  </a:lnTo>
                  <a:close/>
                </a:path>
                <a:path w="47625" h="247650">
                  <a:moveTo>
                    <a:pt x="47371" y="16002"/>
                  </a:moveTo>
                  <a:lnTo>
                    <a:pt x="45339" y="10795"/>
                  </a:lnTo>
                  <a:lnTo>
                    <a:pt x="41148" y="6604"/>
                  </a:lnTo>
                  <a:lnTo>
                    <a:pt x="36957" y="2159"/>
                  </a:lnTo>
                  <a:lnTo>
                    <a:pt x="31115" y="0"/>
                  </a:lnTo>
                  <a:lnTo>
                    <a:pt x="16002" y="0"/>
                  </a:lnTo>
                  <a:lnTo>
                    <a:pt x="10160" y="2159"/>
                  </a:lnTo>
                  <a:lnTo>
                    <a:pt x="2032" y="10795"/>
                  </a:lnTo>
                  <a:lnTo>
                    <a:pt x="0" y="16002"/>
                  </a:lnTo>
                  <a:lnTo>
                    <a:pt x="0" y="27940"/>
                  </a:lnTo>
                  <a:lnTo>
                    <a:pt x="2032" y="33020"/>
                  </a:lnTo>
                  <a:lnTo>
                    <a:pt x="10160" y="41529"/>
                  </a:lnTo>
                  <a:lnTo>
                    <a:pt x="16002" y="43688"/>
                  </a:lnTo>
                  <a:lnTo>
                    <a:pt x="31115" y="43688"/>
                  </a:lnTo>
                  <a:lnTo>
                    <a:pt x="36957" y="41529"/>
                  </a:lnTo>
                  <a:lnTo>
                    <a:pt x="45339" y="33020"/>
                  </a:lnTo>
                  <a:lnTo>
                    <a:pt x="47371" y="27940"/>
                  </a:lnTo>
                  <a:lnTo>
                    <a:pt x="47371" y="16002"/>
                  </a:lnTo>
                  <a:close/>
                </a:path>
              </a:pathLst>
            </a:custGeom>
            <a:solidFill>
              <a:srgbClr val="221F1F"/>
            </a:solidFill>
          </p:spPr>
          <p:txBody>
            <a:bodyPr wrap="square" lIns="0" tIns="0" rIns="0" bIns="0" rtlCol="0"/>
            <a:lstStyle/>
            <a:p>
              <a:endParaRPr/>
            </a:p>
          </p:txBody>
        </p:sp>
        <p:pic>
          <p:nvPicPr>
            <p:cNvPr id="30" name="object 30"/>
            <p:cNvPicPr/>
            <p:nvPr/>
          </p:nvPicPr>
          <p:blipFill>
            <a:blip r:embed="rId16" cstate="print"/>
            <a:stretch>
              <a:fillRect/>
            </a:stretch>
          </p:blipFill>
          <p:spPr>
            <a:xfrm>
              <a:off x="4276725" y="780872"/>
              <a:ext cx="114300" cy="238048"/>
            </a:xfrm>
            <a:prstGeom prst="rect">
              <a:avLst/>
            </a:prstGeom>
          </p:spPr>
        </p:pic>
        <p:pic>
          <p:nvPicPr>
            <p:cNvPr id="31" name="object 31"/>
            <p:cNvPicPr/>
            <p:nvPr/>
          </p:nvPicPr>
          <p:blipFill>
            <a:blip r:embed="rId17" cstate="print"/>
            <a:stretch>
              <a:fillRect/>
            </a:stretch>
          </p:blipFill>
          <p:spPr>
            <a:xfrm>
              <a:off x="4400550" y="828420"/>
              <a:ext cx="171196" cy="256920"/>
            </a:xfrm>
            <a:prstGeom prst="rect">
              <a:avLst/>
            </a:prstGeom>
          </p:spPr>
        </p:pic>
      </p:grpSp>
      <p:sp>
        <p:nvSpPr>
          <p:cNvPr id="32" name="object 32"/>
          <p:cNvSpPr txBox="1"/>
          <p:nvPr/>
        </p:nvSpPr>
        <p:spPr>
          <a:xfrm>
            <a:off x="3001010" y="796138"/>
            <a:ext cx="3415029" cy="624840"/>
          </a:xfrm>
          <a:prstGeom prst="rect">
            <a:avLst/>
          </a:prstGeom>
        </p:spPr>
        <p:txBody>
          <a:bodyPr vert="horz" wrap="square" lIns="0" tIns="12065" rIns="0" bIns="0" rtlCol="0">
            <a:spAutoFit/>
          </a:bodyPr>
          <a:lstStyle/>
          <a:p>
            <a:pPr marL="2686685" marR="5080">
              <a:lnSpc>
                <a:spcPct val="110000"/>
              </a:lnSpc>
              <a:spcBef>
                <a:spcPts val="95"/>
              </a:spcBef>
            </a:pPr>
            <a:r>
              <a:rPr sz="800" dirty="0">
                <a:latin typeface="Arial MT"/>
                <a:cs typeface="Arial MT"/>
              </a:rPr>
              <a:t>Creating</a:t>
            </a:r>
            <a:r>
              <a:rPr sz="800" spc="150" dirty="0">
                <a:latin typeface="Arial MT"/>
                <a:cs typeface="Arial MT"/>
              </a:rPr>
              <a:t> </a:t>
            </a:r>
            <a:r>
              <a:rPr sz="800" spc="-10" dirty="0">
                <a:latin typeface="Arial MT"/>
                <a:cs typeface="Arial MT"/>
              </a:rPr>
              <a:t>Value Leveraging Knowledge</a:t>
            </a:r>
            <a:endParaRPr sz="800">
              <a:latin typeface="Arial MT"/>
              <a:cs typeface="Arial MT"/>
            </a:endParaRPr>
          </a:p>
          <a:p>
            <a:pPr marL="12700">
              <a:lnSpc>
                <a:spcPct val="100000"/>
              </a:lnSpc>
              <a:spcBef>
                <a:spcPts val="240"/>
              </a:spcBef>
            </a:pPr>
            <a:r>
              <a:rPr sz="1100" dirty="0">
                <a:solidFill>
                  <a:srgbClr val="221F1F"/>
                </a:solidFill>
                <a:latin typeface="Arial MT"/>
                <a:cs typeface="Arial MT"/>
              </a:rPr>
              <a:t>Dr.</a:t>
            </a:r>
            <a:r>
              <a:rPr sz="1100" spc="165" dirty="0">
                <a:solidFill>
                  <a:srgbClr val="221F1F"/>
                </a:solidFill>
                <a:latin typeface="Arial MT"/>
                <a:cs typeface="Arial MT"/>
              </a:rPr>
              <a:t> </a:t>
            </a:r>
            <a:r>
              <a:rPr sz="1100" dirty="0">
                <a:solidFill>
                  <a:srgbClr val="221F1F"/>
                </a:solidFill>
                <a:latin typeface="Arial MT"/>
                <a:cs typeface="Arial MT"/>
              </a:rPr>
              <a:t>M.</a:t>
            </a:r>
            <a:r>
              <a:rPr sz="1100" spc="80" dirty="0">
                <a:solidFill>
                  <a:srgbClr val="221F1F"/>
                </a:solidFill>
                <a:latin typeface="Arial MT"/>
                <a:cs typeface="Arial MT"/>
              </a:rPr>
              <a:t> </a:t>
            </a:r>
            <a:r>
              <a:rPr sz="1100" dirty="0">
                <a:solidFill>
                  <a:srgbClr val="221F1F"/>
                </a:solidFill>
                <a:latin typeface="Arial MT"/>
                <a:cs typeface="Arial MT"/>
              </a:rPr>
              <a:t>S.</a:t>
            </a:r>
            <a:r>
              <a:rPr sz="1100" spc="75" dirty="0">
                <a:solidFill>
                  <a:srgbClr val="221F1F"/>
                </a:solidFill>
                <a:latin typeface="Arial MT"/>
                <a:cs typeface="Arial MT"/>
              </a:rPr>
              <a:t> </a:t>
            </a:r>
            <a:r>
              <a:rPr sz="1100" dirty="0">
                <a:solidFill>
                  <a:srgbClr val="221F1F"/>
                </a:solidFill>
                <a:latin typeface="Arial MT"/>
                <a:cs typeface="Arial MT"/>
              </a:rPr>
              <a:t>Sheshgiri</a:t>
            </a:r>
            <a:r>
              <a:rPr sz="1100" spc="55" dirty="0">
                <a:solidFill>
                  <a:srgbClr val="221F1F"/>
                </a:solidFill>
                <a:latin typeface="Arial MT"/>
                <a:cs typeface="Arial MT"/>
              </a:rPr>
              <a:t> </a:t>
            </a:r>
            <a:r>
              <a:rPr sz="1100" dirty="0">
                <a:solidFill>
                  <a:srgbClr val="221F1F"/>
                </a:solidFill>
                <a:latin typeface="Arial MT"/>
                <a:cs typeface="Arial MT"/>
              </a:rPr>
              <a:t>Campus,</a:t>
            </a:r>
            <a:r>
              <a:rPr sz="1100" spc="175" dirty="0">
                <a:solidFill>
                  <a:srgbClr val="221F1F"/>
                </a:solidFill>
                <a:latin typeface="Arial MT"/>
                <a:cs typeface="Arial MT"/>
              </a:rPr>
              <a:t> </a:t>
            </a:r>
            <a:r>
              <a:rPr sz="1100" spc="-10" dirty="0">
                <a:solidFill>
                  <a:srgbClr val="221F1F"/>
                </a:solidFill>
                <a:latin typeface="Arial MT"/>
                <a:cs typeface="Arial MT"/>
              </a:rPr>
              <a:t>Belagavi</a:t>
            </a:r>
            <a:endParaRPr sz="1100">
              <a:latin typeface="Arial MT"/>
              <a:cs typeface="Arial MT"/>
            </a:endParaRPr>
          </a:p>
        </p:txBody>
      </p:sp>
      <p:sp>
        <p:nvSpPr>
          <p:cNvPr id="33" name="object 33"/>
          <p:cNvSpPr/>
          <p:nvPr/>
        </p:nvSpPr>
        <p:spPr>
          <a:xfrm>
            <a:off x="5481573" y="795147"/>
            <a:ext cx="0" cy="266700"/>
          </a:xfrm>
          <a:custGeom>
            <a:avLst/>
            <a:gdLst/>
            <a:ahLst/>
            <a:cxnLst/>
            <a:rect l="l" t="t" r="r" b="b"/>
            <a:pathLst>
              <a:path h="266700">
                <a:moveTo>
                  <a:pt x="0" y="0"/>
                </a:moveTo>
                <a:lnTo>
                  <a:pt x="0" y="266573"/>
                </a:lnTo>
              </a:path>
            </a:pathLst>
          </a:custGeom>
          <a:ln w="11128">
            <a:solidFill>
              <a:srgbClr val="EB7C30"/>
            </a:solidFill>
          </a:ln>
        </p:spPr>
        <p:txBody>
          <a:bodyPr wrap="square" lIns="0" tIns="0" rIns="0" bIns="0" rtlCol="0"/>
          <a:lstStyle/>
          <a:p>
            <a:endParaRPr/>
          </a:p>
        </p:txBody>
      </p:sp>
      <p:sp>
        <p:nvSpPr>
          <p:cNvPr id="34" name="object 34"/>
          <p:cNvSpPr/>
          <p:nvPr/>
        </p:nvSpPr>
        <p:spPr>
          <a:xfrm>
            <a:off x="1490599" y="1490217"/>
            <a:ext cx="7296150" cy="0"/>
          </a:xfrm>
          <a:custGeom>
            <a:avLst/>
            <a:gdLst/>
            <a:ahLst/>
            <a:cxnLst/>
            <a:rect l="l" t="t" r="r" b="b"/>
            <a:pathLst>
              <a:path w="7296150">
                <a:moveTo>
                  <a:pt x="0" y="0"/>
                </a:moveTo>
                <a:lnTo>
                  <a:pt x="7296023" y="0"/>
                </a:lnTo>
              </a:path>
            </a:pathLst>
          </a:custGeom>
          <a:ln w="13903">
            <a:solidFill>
              <a:srgbClr val="000000"/>
            </a:solidFill>
          </a:ln>
        </p:spPr>
        <p:txBody>
          <a:bodyPr wrap="square" lIns="0" tIns="0" rIns="0" bIns="0" rtlCol="0"/>
          <a:lstStyle/>
          <a:p>
            <a:endParaRPr/>
          </a:p>
        </p:txBody>
      </p:sp>
      <p:graphicFrame>
        <p:nvGraphicFramePr>
          <p:cNvPr id="35" name="object 35"/>
          <p:cNvGraphicFramePr>
            <a:graphicFrameLocks noGrp="1"/>
          </p:cNvGraphicFramePr>
          <p:nvPr/>
        </p:nvGraphicFramePr>
        <p:xfrm>
          <a:off x="1655066" y="2255064"/>
          <a:ext cx="7131683" cy="2505075"/>
        </p:xfrm>
        <a:graphic>
          <a:graphicData uri="http://schemas.openxmlformats.org/drawingml/2006/table">
            <a:tbl>
              <a:tblPr firstRow="1" bandRow="1">
                <a:tableStyleId>{2D5ABB26-0587-4C30-8999-92F81FD0307C}</a:tableStyleId>
              </a:tblPr>
              <a:tblGrid>
                <a:gridCol w="793750">
                  <a:extLst>
                    <a:ext uri="{9D8B030D-6E8A-4147-A177-3AD203B41FA5}">
                      <a16:colId xmlns:a16="http://schemas.microsoft.com/office/drawing/2014/main" val="20000"/>
                    </a:ext>
                  </a:extLst>
                </a:gridCol>
                <a:gridCol w="3707129">
                  <a:extLst>
                    <a:ext uri="{9D8B030D-6E8A-4147-A177-3AD203B41FA5}">
                      <a16:colId xmlns:a16="http://schemas.microsoft.com/office/drawing/2014/main" val="20001"/>
                    </a:ext>
                  </a:extLst>
                </a:gridCol>
                <a:gridCol w="2630804">
                  <a:extLst>
                    <a:ext uri="{9D8B030D-6E8A-4147-A177-3AD203B41FA5}">
                      <a16:colId xmlns:a16="http://schemas.microsoft.com/office/drawing/2014/main" val="20002"/>
                    </a:ext>
                  </a:extLst>
                </a:gridCol>
              </a:tblGrid>
              <a:tr h="501015">
                <a:tc>
                  <a:txBody>
                    <a:bodyPr/>
                    <a:lstStyle/>
                    <a:p>
                      <a:pPr algn="ctr">
                        <a:lnSpc>
                          <a:spcPct val="100000"/>
                        </a:lnSpc>
                      </a:pPr>
                      <a:r>
                        <a:rPr lang="en-IN" sz="1600" dirty="0">
                          <a:latin typeface="Times New Roman" panose="02020603050405020304" pitchFamily="18" charset="0"/>
                          <a:cs typeface="Times New Roman" panose="02020603050405020304" pitchFamily="18" charset="0"/>
                        </a:rPr>
                        <a:t>Sr No</a:t>
                      </a:r>
                      <a:endParaRPr sz="1600" dirty="0">
                        <a:latin typeface="Times New Roman" panose="02020603050405020304" pitchFamily="18" charset="0"/>
                        <a:cs typeface="Times New Roman" panose="02020603050405020304" pitchFamily="18" charset="0"/>
                      </a:endParaRPr>
                    </a:p>
                  </a:txBody>
                  <a:tcPr marL="0" marR="0" marT="0" marB="0">
                    <a:lnL w="12700">
                      <a:solidFill>
                        <a:srgbClr val="FFBE00"/>
                      </a:solidFill>
                      <a:prstDash val="solid"/>
                    </a:lnL>
                    <a:lnR w="12700">
                      <a:solidFill>
                        <a:srgbClr val="FFBE00"/>
                      </a:solidFill>
                      <a:prstDash val="solid"/>
                    </a:lnR>
                    <a:lnT w="12700">
                      <a:solidFill>
                        <a:srgbClr val="FFBE00"/>
                      </a:solidFill>
                      <a:prstDash val="solid"/>
                    </a:lnT>
                    <a:lnB w="28575">
                      <a:solidFill>
                        <a:srgbClr val="FFBE00"/>
                      </a:solidFill>
                      <a:prstDash val="solid"/>
                    </a:lnB>
                  </a:tcPr>
                </a:tc>
                <a:tc>
                  <a:txBody>
                    <a:bodyPr/>
                    <a:lstStyle/>
                    <a:p>
                      <a:pPr algn="ctr">
                        <a:lnSpc>
                          <a:spcPct val="100000"/>
                        </a:lnSpc>
                      </a:pPr>
                      <a:r>
                        <a:rPr lang="en-IN" sz="1600" dirty="0">
                          <a:latin typeface="Times New Roman" panose="02020603050405020304" pitchFamily="18" charset="0"/>
                          <a:cs typeface="Times New Roman" panose="02020603050405020304" pitchFamily="18" charset="0"/>
                        </a:rPr>
                        <a:t>Name</a:t>
                      </a:r>
                      <a:endParaRPr sz="1600" dirty="0">
                        <a:latin typeface="Times New Roman" panose="02020603050405020304" pitchFamily="18" charset="0"/>
                        <a:cs typeface="Times New Roman" panose="02020603050405020304" pitchFamily="18" charset="0"/>
                      </a:endParaRPr>
                    </a:p>
                  </a:txBody>
                  <a:tcPr marL="0" marR="0" marT="0" marB="0">
                    <a:lnL w="12700">
                      <a:solidFill>
                        <a:srgbClr val="FFBE00"/>
                      </a:solidFill>
                      <a:prstDash val="solid"/>
                    </a:lnL>
                    <a:lnR w="12700">
                      <a:solidFill>
                        <a:srgbClr val="FFBE00"/>
                      </a:solidFill>
                      <a:prstDash val="solid"/>
                    </a:lnR>
                    <a:lnT w="12700">
                      <a:solidFill>
                        <a:srgbClr val="FFBE00"/>
                      </a:solidFill>
                      <a:prstDash val="solid"/>
                    </a:lnT>
                    <a:lnB w="28575">
                      <a:solidFill>
                        <a:srgbClr val="FFBE00"/>
                      </a:solidFill>
                      <a:prstDash val="solid"/>
                    </a:lnB>
                  </a:tcPr>
                </a:tc>
                <a:tc>
                  <a:txBody>
                    <a:bodyPr/>
                    <a:lstStyle/>
                    <a:p>
                      <a:pPr algn="ctr">
                        <a:lnSpc>
                          <a:spcPct val="100000"/>
                        </a:lnSpc>
                      </a:pPr>
                      <a:r>
                        <a:rPr lang="en-IN" sz="1600" dirty="0">
                          <a:latin typeface="Times New Roman" panose="02020603050405020304" pitchFamily="18" charset="0"/>
                          <a:cs typeface="Times New Roman" panose="02020603050405020304" pitchFamily="18" charset="0"/>
                        </a:rPr>
                        <a:t>SRN</a:t>
                      </a:r>
                      <a:endParaRPr sz="1600" dirty="0">
                        <a:latin typeface="Times New Roman" panose="02020603050405020304" pitchFamily="18" charset="0"/>
                        <a:cs typeface="Times New Roman" panose="02020603050405020304" pitchFamily="18" charset="0"/>
                      </a:endParaRPr>
                    </a:p>
                  </a:txBody>
                  <a:tcPr marL="0" marR="0" marT="0" marB="0">
                    <a:lnL w="12700">
                      <a:solidFill>
                        <a:srgbClr val="FFBE00"/>
                      </a:solidFill>
                      <a:prstDash val="solid"/>
                    </a:lnL>
                    <a:lnR w="12700">
                      <a:solidFill>
                        <a:srgbClr val="FFBE00"/>
                      </a:solidFill>
                      <a:prstDash val="solid"/>
                    </a:lnR>
                    <a:lnT w="12700">
                      <a:solidFill>
                        <a:srgbClr val="FFBE00"/>
                      </a:solidFill>
                      <a:prstDash val="solid"/>
                    </a:lnT>
                    <a:lnB w="28575">
                      <a:solidFill>
                        <a:srgbClr val="FFBE00"/>
                      </a:solidFill>
                      <a:prstDash val="solid"/>
                    </a:lnB>
                  </a:tcPr>
                </a:tc>
                <a:extLst>
                  <a:ext uri="{0D108BD9-81ED-4DB2-BD59-A6C34878D82A}">
                    <a16:rowId xmlns:a16="http://schemas.microsoft.com/office/drawing/2014/main" val="10000"/>
                  </a:ext>
                </a:extLst>
              </a:tr>
              <a:tr h="501015">
                <a:tc>
                  <a:txBody>
                    <a:bodyPr/>
                    <a:lstStyle/>
                    <a:p>
                      <a:pPr marL="85725">
                        <a:lnSpc>
                          <a:spcPct val="100000"/>
                        </a:lnSpc>
                        <a:spcBef>
                          <a:spcPts val="30"/>
                        </a:spcBef>
                      </a:pPr>
                      <a:r>
                        <a:rPr sz="1700" spc="-50" dirty="0">
                          <a:latin typeface="Times New Roman" panose="02020603050405020304" pitchFamily="18" charset="0"/>
                          <a:cs typeface="Times New Roman" panose="02020603050405020304" pitchFamily="18" charset="0"/>
                        </a:rPr>
                        <a:t>1</a:t>
                      </a:r>
                      <a:endParaRPr sz="1700" dirty="0">
                        <a:latin typeface="Times New Roman" panose="02020603050405020304" pitchFamily="18" charset="0"/>
                        <a:cs typeface="Times New Roman" panose="02020603050405020304" pitchFamily="18" charset="0"/>
                      </a:endParaRPr>
                    </a:p>
                  </a:txBody>
                  <a:tcPr marL="0" marR="0" marT="3810" marB="0">
                    <a:lnL w="12700">
                      <a:solidFill>
                        <a:srgbClr val="FFBE00"/>
                      </a:solidFill>
                      <a:prstDash val="solid"/>
                    </a:lnL>
                    <a:lnR w="12700">
                      <a:solidFill>
                        <a:srgbClr val="FFBE00"/>
                      </a:solidFill>
                      <a:prstDash val="solid"/>
                    </a:lnR>
                    <a:lnT w="28575">
                      <a:solidFill>
                        <a:srgbClr val="FFBE00"/>
                      </a:solidFill>
                      <a:prstDash val="solid"/>
                    </a:lnT>
                    <a:lnB w="12700">
                      <a:solidFill>
                        <a:srgbClr val="FFBE00"/>
                      </a:solidFill>
                      <a:prstDash val="solid"/>
                    </a:lnB>
                    <a:solidFill>
                      <a:srgbClr val="FFBE00">
                        <a:alpha val="19607"/>
                      </a:srgbClr>
                    </a:solidFill>
                  </a:tcPr>
                </a:tc>
                <a:tc>
                  <a:txBody>
                    <a:bodyPr/>
                    <a:lstStyle/>
                    <a:p>
                      <a:pPr marL="46355">
                        <a:lnSpc>
                          <a:spcPct val="100000"/>
                        </a:lnSpc>
                        <a:spcBef>
                          <a:spcPts val="30"/>
                        </a:spcBef>
                      </a:pPr>
                      <a:r>
                        <a:rPr lang="en-IN" sz="1700" dirty="0">
                          <a:latin typeface="Times New Roman" panose="02020603050405020304" pitchFamily="18" charset="0"/>
                          <a:cs typeface="Times New Roman" panose="02020603050405020304" pitchFamily="18" charset="0"/>
                        </a:rPr>
                        <a:t>Omkar Bhandare</a:t>
                      </a:r>
                      <a:endParaRPr sz="1700" dirty="0">
                        <a:latin typeface="Times New Roman" panose="02020603050405020304" pitchFamily="18" charset="0"/>
                        <a:cs typeface="Times New Roman" panose="02020603050405020304" pitchFamily="18" charset="0"/>
                      </a:endParaRPr>
                    </a:p>
                  </a:txBody>
                  <a:tcPr marL="0" marR="0" marT="3810" marB="0">
                    <a:lnL w="12700">
                      <a:solidFill>
                        <a:srgbClr val="FFBE00"/>
                      </a:solidFill>
                      <a:prstDash val="solid"/>
                    </a:lnL>
                    <a:lnR w="12700">
                      <a:solidFill>
                        <a:srgbClr val="FFBE00"/>
                      </a:solidFill>
                      <a:prstDash val="solid"/>
                    </a:lnR>
                    <a:lnT w="28575">
                      <a:solidFill>
                        <a:srgbClr val="FFBE00"/>
                      </a:solidFill>
                      <a:prstDash val="solid"/>
                    </a:lnT>
                    <a:lnB w="12700">
                      <a:solidFill>
                        <a:srgbClr val="FFBE00"/>
                      </a:solidFill>
                      <a:prstDash val="solid"/>
                    </a:lnB>
                    <a:solidFill>
                      <a:srgbClr val="FFBE00">
                        <a:alpha val="19607"/>
                      </a:srgbClr>
                    </a:solidFill>
                  </a:tcPr>
                </a:tc>
                <a:tc>
                  <a:txBody>
                    <a:bodyPr/>
                    <a:lstStyle/>
                    <a:p>
                      <a:pPr marL="89535">
                        <a:lnSpc>
                          <a:spcPct val="100000"/>
                        </a:lnSpc>
                        <a:spcBef>
                          <a:spcPts val="30"/>
                        </a:spcBef>
                      </a:pPr>
                      <a:r>
                        <a:rPr sz="1700" spc="55" dirty="0">
                          <a:latin typeface="Times New Roman" panose="02020603050405020304" pitchFamily="18" charset="0"/>
                          <a:cs typeface="Times New Roman" panose="02020603050405020304" pitchFamily="18" charset="0"/>
                        </a:rPr>
                        <a:t>02FE22BCS</a:t>
                      </a:r>
                      <a:r>
                        <a:rPr lang="en-IN" sz="1700" spc="55" dirty="0">
                          <a:latin typeface="Times New Roman" panose="02020603050405020304" pitchFamily="18" charset="0"/>
                          <a:cs typeface="Times New Roman" panose="02020603050405020304" pitchFamily="18" charset="0"/>
                        </a:rPr>
                        <a:t>062</a:t>
                      </a:r>
                      <a:endParaRPr sz="1700" dirty="0">
                        <a:latin typeface="Times New Roman" panose="02020603050405020304" pitchFamily="18" charset="0"/>
                        <a:cs typeface="Times New Roman" panose="02020603050405020304" pitchFamily="18" charset="0"/>
                      </a:endParaRPr>
                    </a:p>
                  </a:txBody>
                  <a:tcPr marL="0" marR="0" marT="3810" marB="0">
                    <a:lnL w="12700">
                      <a:solidFill>
                        <a:srgbClr val="FFBE00"/>
                      </a:solidFill>
                      <a:prstDash val="solid"/>
                    </a:lnL>
                    <a:lnR w="12700">
                      <a:solidFill>
                        <a:srgbClr val="FFBE00"/>
                      </a:solidFill>
                      <a:prstDash val="solid"/>
                    </a:lnR>
                    <a:lnT w="28575">
                      <a:solidFill>
                        <a:srgbClr val="FFBE00"/>
                      </a:solidFill>
                      <a:prstDash val="solid"/>
                    </a:lnT>
                    <a:lnB w="12700">
                      <a:solidFill>
                        <a:srgbClr val="FFBE00"/>
                      </a:solidFill>
                      <a:prstDash val="solid"/>
                    </a:lnB>
                    <a:solidFill>
                      <a:srgbClr val="FFBE00">
                        <a:alpha val="19607"/>
                      </a:srgbClr>
                    </a:solidFill>
                  </a:tcPr>
                </a:tc>
                <a:extLst>
                  <a:ext uri="{0D108BD9-81ED-4DB2-BD59-A6C34878D82A}">
                    <a16:rowId xmlns:a16="http://schemas.microsoft.com/office/drawing/2014/main" val="10001"/>
                  </a:ext>
                </a:extLst>
              </a:tr>
              <a:tr h="501015">
                <a:tc>
                  <a:txBody>
                    <a:bodyPr/>
                    <a:lstStyle/>
                    <a:p>
                      <a:pPr marL="85725">
                        <a:lnSpc>
                          <a:spcPct val="100000"/>
                        </a:lnSpc>
                        <a:spcBef>
                          <a:spcPts val="35"/>
                        </a:spcBef>
                      </a:pPr>
                      <a:r>
                        <a:rPr sz="1700" spc="-50" dirty="0">
                          <a:latin typeface="Times New Roman" panose="02020603050405020304" pitchFamily="18" charset="0"/>
                          <a:cs typeface="Times New Roman" panose="02020603050405020304" pitchFamily="18" charset="0"/>
                        </a:rPr>
                        <a:t>2</a:t>
                      </a:r>
                      <a:endParaRPr sz="1700" dirty="0">
                        <a:latin typeface="Times New Roman" panose="02020603050405020304" pitchFamily="18" charset="0"/>
                        <a:cs typeface="Times New Roman" panose="02020603050405020304" pitchFamily="18" charset="0"/>
                      </a:endParaRPr>
                    </a:p>
                  </a:txBody>
                  <a:tcPr marL="0" marR="0" marT="4445" marB="0">
                    <a:lnL w="12700">
                      <a:solidFill>
                        <a:srgbClr val="FFBE00"/>
                      </a:solidFill>
                      <a:prstDash val="solid"/>
                    </a:lnL>
                    <a:lnR w="12700">
                      <a:solidFill>
                        <a:srgbClr val="FFBE00"/>
                      </a:solidFill>
                      <a:prstDash val="solid"/>
                    </a:lnR>
                    <a:lnT w="12700">
                      <a:solidFill>
                        <a:srgbClr val="FFBE00"/>
                      </a:solidFill>
                      <a:prstDash val="solid"/>
                    </a:lnT>
                    <a:lnB w="12700">
                      <a:solidFill>
                        <a:srgbClr val="FFBE00"/>
                      </a:solidFill>
                      <a:prstDash val="solid"/>
                    </a:lnB>
                  </a:tcPr>
                </a:tc>
                <a:tc>
                  <a:txBody>
                    <a:bodyPr/>
                    <a:lstStyle/>
                    <a:p>
                      <a:pPr marL="46355">
                        <a:lnSpc>
                          <a:spcPct val="100000"/>
                        </a:lnSpc>
                        <a:spcBef>
                          <a:spcPts val="35"/>
                        </a:spcBef>
                      </a:pPr>
                      <a:r>
                        <a:rPr lang="en-IN" sz="1700" dirty="0">
                          <a:latin typeface="Times New Roman" panose="02020603050405020304" pitchFamily="18" charset="0"/>
                          <a:cs typeface="Times New Roman" panose="02020603050405020304" pitchFamily="18" charset="0"/>
                        </a:rPr>
                        <a:t>Siddharth Sutar</a:t>
                      </a:r>
                      <a:endParaRPr sz="1700" dirty="0">
                        <a:latin typeface="Times New Roman" panose="02020603050405020304" pitchFamily="18" charset="0"/>
                        <a:cs typeface="Times New Roman" panose="02020603050405020304" pitchFamily="18" charset="0"/>
                      </a:endParaRPr>
                    </a:p>
                  </a:txBody>
                  <a:tcPr marL="0" marR="0" marT="4445" marB="0">
                    <a:lnL w="12700">
                      <a:solidFill>
                        <a:srgbClr val="FFBE00"/>
                      </a:solidFill>
                      <a:prstDash val="solid"/>
                    </a:lnL>
                    <a:lnR w="12700">
                      <a:solidFill>
                        <a:srgbClr val="FFBE00"/>
                      </a:solidFill>
                      <a:prstDash val="solid"/>
                    </a:lnR>
                    <a:lnT w="12700">
                      <a:solidFill>
                        <a:srgbClr val="FFBE00"/>
                      </a:solidFill>
                      <a:prstDash val="solid"/>
                    </a:lnT>
                    <a:lnB w="12700">
                      <a:solidFill>
                        <a:srgbClr val="FFBE00"/>
                      </a:solidFill>
                      <a:prstDash val="solid"/>
                    </a:lnB>
                  </a:tcPr>
                </a:tc>
                <a:tc>
                  <a:txBody>
                    <a:bodyPr/>
                    <a:lstStyle/>
                    <a:p>
                      <a:pPr marL="89535">
                        <a:lnSpc>
                          <a:spcPct val="100000"/>
                        </a:lnSpc>
                        <a:spcBef>
                          <a:spcPts val="35"/>
                        </a:spcBef>
                      </a:pPr>
                      <a:r>
                        <a:rPr sz="1700" spc="55" dirty="0">
                          <a:latin typeface="Times New Roman" panose="02020603050405020304" pitchFamily="18" charset="0"/>
                          <a:cs typeface="Times New Roman" panose="02020603050405020304" pitchFamily="18" charset="0"/>
                        </a:rPr>
                        <a:t>02FE22BCS1</a:t>
                      </a:r>
                      <a:r>
                        <a:rPr lang="en-IN" sz="1700" spc="55" dirty="0">
                          <a:latin typeface="Times New Roman" panose="02020603050405020304" pitchFamily="18" charset="0"/>
                          <a:cs typeface="Times New Roman" panose="02020603050405020304" pitchFamily="18" charset="0"/>
                        </a:rPr>
                        <a:t>34</a:t>
                      </a:r>
                      <a:endParaRPr sz="1700" dirty="0">
                        <a:latin typeface="Times New Roman" panose="02020603050405020304" pitchFamily="18" charset="0"/>
                        <a:cs typeface="Times New Roman" panose="02020603050405020304" pitchFamily="18" charset="0"/>
                      </a:endParaRPr>
                    </a:p>
                  </a:txBody>
                  <a:tcPr marL="0" marR="0" marT="4445" marB="0">
                    <a:lnL w="12700">
                      <a:solidFill>
                        <a:srgbClr val="FFBE00"/>
                      </a:solidFill>
                      <a:prstDash val="solid"/>
                    </a:lnL>
                    <a:lnR w="12700">
                      <a:solidFill>
                        <a:srgbClr val="FFBE00"/>
                      </a:solidFill>
                      <a:prstDash val="solid"/>
                    </a:lnR>
                    <a:lnT w="12700">
                      <a:solidFill>
                        <a:srgbClr val="FFBE00"/>
                      </a:solidFill>
                      <a:prstDash val="solid"/>
                    </a:lnT>
                    <a:lnB w="12700">
                      <a:solidFill>
                        <a:srgbClr val="FFBE00"/>
                      </a:solidFill>
                      <a:prstDash val="solid"/>
                    </a:lnB>
                  </a:tcPr>
                </a:tc>
                <a:extLst>
                  <a:ext uri="{0D108BD9-81ED-4DB2-BD59-A6C34878D82A}">
                    <a16:rowId xmlns:a16="http://schemas.microsoft.com/office/drawing/2014/main" val="10002"/>
                  </a:ext>
                </a:extLst>
              </a:tr>
              <a:tr h="501015">
                <a:tc>
                  <a:txBody>
                    <a:bodyPr/>
                    <a:lstStyle/>
                    <a:p>
                      <a:pPr marL="85725">
                        <a:lnSpc>
                          <a:spcPct val="100000"/>
                        </a:lnSpc>
                        <a:spcBef>
                          <a:spcPts val="45"/>
                        </a:spcBef>
                      </a:pPr>
                      <a:r>
                        <a:rPr sz="1700" spc="-50" dirty="0">
                          <a:latin typeface="Times New Roman" panose="02020603050405020304" pitchFamily="18" charset="0"/>
                          <a:cs typeface="Times New Roman" panose="02020603050405020304" pitchFamily="18" charset="0"/>
                        </a:rPr>
                        <a:t>3</a:t>
                      </a:r>
                      <a:endParaRPr sz="1700">
                        <a:latin typeface="Times New Roman" panose="02020603050405020304" pitchFamily="18" charset="0"/>
                        <a:cs typeface="Times New Roman" panose="02020603050405020304" pitchFamily="18" charset="0"/>
                      </a:endParaRPr>
                    </a:p>
                  </a:txBody>
                  <a:tcPr marL="0" marR="0" marT="5715" marB="0">
                    <a:lnL w="12700">
                      <a:solidFill>
                        <a:srgbClr val="FFBE00"/>
                      </a:solidFill>
                      <a:prstDash val="solid"/>
                    </a:lnL>
                    <a:lnR w="12700">
                      <a:solidFill>
                        <a:srgbClr val="FFBE00"/>
                      </a:solidFill>
                      <a:prstDash val="solid"/>
                    </a:lnR>
                    <a:lnT w="12700">
                      <a:solidFill>
                        <a:srgbClr val="FFBE00"/>
                      </a:solidFill>
                      <a:prstDash val="solid"/>
                    </a:lnT>
                    <a:lnB w="12700">
                      <a:solidFill>
                        <a:srgbClr val="FFBE00"/>
                      </a:solidFill>
                      <a:prstDash val="solid"/>
                    </a:lnB>
                    <a:solidFill>
                      <a:srgbClr val="FFBE00">
                        <a:alpha val="19607"/>
                      </a:srgbClr>
                    </a:solidFill>
                  </a:tcPr>
                </a:tc>
                <a:tc>
                  <a:txBody>
                    <a:bodyPr/>
                    <a:lstStyle/>
                    <a:p>
                      <a:pPr marL="46355">
                        <a:lnSpc>
                          <a:spcPct val="100000"/>
                        </a:lnSpc>
                        <a:spcBef>
                          <a:spcPts val="45"/>
                        </a:spcBef>
                      </a:pPr>
                      <a:r>
                        <a:rPr lang="en-IN" sz="1700" spc="45" dirty="0">
                          <a:latin typeface="Times New Roman" panose="02020603050405020304" pitchFamily="18" charset="0"/>
                          <a:cs typeface="Times New Roman" panose="02020603050405020304" pitchFamily="18" charset="0"/>
                        </a:rPr>
                        <a:t>Sonali Jadhav</a:t>
                      </a:r>
                      <a:endParaRPr sz="1700" dirty="0">
                        <a:latin typeface="Times New Roman" panose="02020603050405020304" pitchFamily="18" charset="0"/>
                        <a:cs typeface="Times New Roman" panose="02020603050405020304" pitchFamily="18" charset="0"/>
                      </a:endParaRPr>
                    </a:p>
                  </a:txBody>
                  <a:tcPr marL="0" marR="0" marT="5715" marB="0">
                    <a:lnL w="12700">
                      <a:solidFill>
                        <a:srgbClr val="FFBE00"/>
                      </a:solidFill>
                      <a:prstDash val="solid"/>
                    </a:lnL>
                    <a:lnR w="12700">
                      <a:solidFill>
                        <a:srgbClr val="FFBE00"/>
                      </a:solidFill>
                      <a:prstDash val="solid"/>
                    </a:lnR>
                    <a:lnT w="12700">
                      <a:solidFill>
                        <a:srgbClr val="FFBE00"/>
                      </a:solidFill>
                      <a:prstDash val="solid"/>
                    </a:lnT>
                    <a:lnB w="12700">
                      <a:solidFill>
                        <a:srgbClr val="FFBE00"/>
                      </a:solidFill>
                      <a:prstDash val="solid"/>
                    </a:lnB>
                    <a:solidFill>
                      <a:srgbClr val="FFBE00">
                        <a:alpha val="19607"/>
                      </a:srgbClr>
                    </a:solidFill>
                  </a:tcPr>
                </a:tc>
                <a:tc>
                  <a:txBody>
                    <a:bodyPr/>
                    <a:lstStyle/>
                    <a:p>
                      <a:pPr marL="89535">
                        <a:lnSpc>
                          <a:spcPct val="100000"/>
                        </a:lnSpc>
                        <a:spcBef>
                          <a:spcPts val="45"/>
                        </a:spcBef>
                      </a:pPr>
                      <a:r>
                        <a:rPr sz="1700" spc="55" dirty="0">
                          <a:latin typeface="Times New Roman" panose="02020603050405020304" pitchFamily="18" charset="0"/>
                          <a:cs typeface="Times New Roman" panose="02020603050405020304" pitchFamily="18" charset="0"/>
                        </a:rPr>
                        <a:t>02FE22BCS1</a:t>
                      </a:r>
                      <a:r>
                        <a:rPr lang="en-IN" sz="1700" spc="55" dirty="0">
                          <a:latin typeface="Times New Roman" panose="02020603050405020304" pitchFamily="18" charset="0"/>
                          <a:cs typeface="Times New Roman" panose="02020603050405020304" pitchFamily="18" charset="0"/>
                        </a:rPr>
                        <a:t>46</a:t>
                      </a:r>
                      <a:endParaRPr sz="1700" dirty="0">
                        <a:latin typeface="Times New Roman" panose="02020603050405020304" pitchFamily="18" charset="0"/>
                        <a:cs typeface="Times New Roman" panose="02020603050405020304" pitchFamily="18" charset="0"/>
                      </a:endParaRPr>
                    </a:p>
                  </a:txBody>
                  <a:tcPr marL="0" marR="0" marT="5715" marB="0">
                    <a:lnL w="12700">
                      <a:solidFill>
                        <a:srgbClr val="FFBE00"/>
                      </a:solidFill>
                      <a:prstDash val="solid"/>
                    </a:lnL>
                    <a:lnR w="12700">
                      <a:solidFill>
                        <a:srgbClr val="FFBE00"/>
                      </a:solidFill>
                      <a:prstDash val="solid"/>
                    </a:lnR>
                    <a:lnT w="12700">
                      <a:solidFill>
                        <a:srgbClr val="FFBE00"/>
                      </a:solidFill>
                      <a:prstDash val="solid"/>
                    </a:lnT>
                    <a:lnB w="12700">
                      <a:solidFill>
                        <a:srgbClr val="FFBE00"/>
                      </a:solidFill>
                      <a:prstDash val="solid"/>
                    </a:lnB>
                    <a:solidFill>
                      <a:srgbClr val="FFBE00">
                        <a:alpha val="19607"/>
                      </a:srgbClr>
                    </a:solidFill>
                  </a:tcPr>
                </a:tc>
                <a:extLst>
                  <a:ext uri="{0D108BD9-81ED-4DB2-BD59-A6C34878D82A}">
                    <a16:rowId xmlns:a16="http://schemas.microsoft.com/office/drawing/2014/main" val="10003"/>
                  </a:ext>
                </a:extLst>
              </a:tr>
              <a:tr h="501015">
                <a:tc>
                  <a:txBody>
                    <a:bodyPr/>
                    <a:lstStyle/>
                    <a:p>
                      <a:pPr marL="85725">
                        <a:lnSpc>
                          <a:spcPct val="100000"/>
                        </a:lnSpc>
                        <a:spcBef>
                          <a:spcPts val="50"/>
                        </a:spcBef>
                      </a:pPr>
                      <a:r>
                        <a:rPr sz="1700" spc="-50" dirty="0">
                          <a:latin typeface="Times New Roman" panose="02020603050405020304" pitchFamily="18" charset="0"/>
                          <a:cs typeface="Times New Roman" panose="02020603050405020304" pitchFamily="18" charset="0"/>
                        </a:rPr>
                        <a:t>4</a:t>
                      </a:r>
                      <a:endParaRPr sz="1700">
                        <a:latin typeface="Times New Roman" panose="02020603050405020304" pitchFamily="18" charset="0"/>
                        <a:cs typeface="Times New Roman" panose="02020603050405020304" pitchFamily="18" charset="0"/>
                      </a:endParaRPr>
                    </a:p>
                  </a:txBody>
                  <a:tcPr marL="0" marR="0" marT="6350" marB="0">
                    <a:lnL w="12700">
                      <a:solidFill>
                        <a:srgbClr val="FFBE00"/>
                      </a:solidFill>
                      <a:prstDash val="solid"/>
                    </a:lnL>
                    <a:lnR w="12700">
                      <a:solidFill>
                        <a:srgbClr val="FFBE00"/>
                      </a:solidFill>
                      <a:prstDash val="solid"/>
                    </a:lnR>
                    <a:lnT w="12700">
                      <a:solidFill>
                        <a:srgbClr val="FFBE00"/>
                      </a:solidFill>
                      <a:prstDash val="solid"/>
                    </a:lnT>
                    <a:lnB w="12700">
                      <a:solidFill>
                        <a:srgbClr val="FFBE00"/>
                      </a:solidFill>
                      <a:prstDash val="solid"/>
                    </a:lnB>
                  </a:tcPr>
                </a:tc>
                <a:tc>
                  <a:txBody>
                    <a:bodyPr/>
                    <a:lstStyle/>
                    <a:p>
                      <a:pPr marL="46355">
                        <a:lnSpc>
                          <a:spcPct val="100000"/>
                        </a:lnSpc>
                        <a:spcBef>
                          <a:spcPts val="50"/>
                        </a:spcBef>
                      </a:pPr>
                      <a:r>
                        <a:rPr lang="en-IN" sz="1700" spc="-20" dirty="0">
                          <a:latin typeface="Times New Roman" panose="02020603050405020304" pitchFamily="18" charset="0"/>
                          <a:cs typeface="Times New Roman" panose="02020603050405020304" pitchFamily="18" charset="0"/>
                        </a:rPr>
                        <a:t>Soujanya Mirajkar</a:t>
                      </a:r>
                      <a:endParaRPr sz="1700" dirty="0">
                        <a:latin typeface="Times New Roman" panose="02020603050405020304" pitchFamily="18" charset="0"/>
                        <a:cs typeface="Times New Roman" panose="02020603050405020304" pitchFamily="18" charset="0"/>
                      </a:endParaRPr>
                    </a:p>
                  </a:txBody>
                  <a:tcPr marL="0" marR="0" marT="6350" marB="0">
                    <a:lnL w="12700">
                      <a:solidFill>
                        <a:srgbClr val="FFBE00"/>
                      </a:solidFill>
                      <a:prstDash val="solid"/>
                    </a:lnL>
                    <a:lnR w="12700">
                      <a:solidFill>
                        <a:srgbClr val="FFBE00"/>
                      </a:solidFill>
                      <a:prstDash val="solid"/>
                    </a:lnR>
                    <a:lnT w="12700">
                      <a:solidFill>
                        <a:srgbClr val="FFBE00"/>
                      </a:solidFill>
                      <a:prstDash val="solid"/>
                    </a:lnT>
                    <a:lnB w="12700">
                      <a:solidFill>
                        <a:srgbClr val="FFBE00"/>
                      </a:solidFill>
                      <a:prstDash val="solid"/>
                    </a:lnB>
                  </a:tcPr>
                </a:tc>
                <a:tc>
                  <a:txBody>
                    <a:bodyPr/>
                    <a:lstStyle/>
                    <a:p>
                      <a:pPr marL="89535">
                        <a:lnSpc>
                          <a:spcPct val="100000"/>
                        </a:lnSpc>
                        <a:spcBef>
                          <a:spcPts val="50"/>
                        </a:spcBef>
                      </a:pPr>
                      <a:r>
                        <a:rPr sz="1700" spc="55" dirty="0">
                          <a:latin typeface="Times New Roman" panose="02020603050405020304" pitchFamily="18" charset="0"/>
                          <a:cs typeface="Times New Roman" panose="02020603050405020304" pitchFamily="18" charset="0"/>
                        </a:rPr>
                        <a:t>02FE22BCS</a:t>
                      </a:r>
                      <a:r>
                        <a:rPr lang="en-IN" sz="1700" spc="55" dirty="0">
                          <a:latin typeface="Times New Roman" panose="02020603050405020304" pitchFamily="18" charset="0"/>
                          <a:cs typeface="Times New Roman" panose="02020603050405020304" pitchFamily="18" charset="0"/>
                        </a:rPr>
                        <a:t>147</a:t>
                      </a:r>
                      <a:endParaRPr sz="1700" dirty="0">
                        <a:latin typeface="Times New Roman" panose="02020603050405020304" pitchFamily="18" charset="0"/>
                        <a:cs typeface="Times New Roman" panose="02020603050405020304" pitchFamily="18" charset="0"/>
                      </a:endParaRPr>
                    </a:p>
                  </a:txBody>
                  <a:tcPr marL="0" marR="0" marT="6350" marB="0">
                    <a:lnL w="12700">
                      <a:solidFill>
                        <a:srgbClr val="FFBE00"/>
                      </a:solidFill>
                      <a:prstDash val="solid"/>
                    </a:lnL>
                    <a:lnR w="12700">
                      <a:solidFill>
                        <a:srgbClr val="FFBE00"/>
                      </a:solidFill>
                      <a:prstDash val="solid"/>
                    </a:lnR>
                    <a:lnT w="12700">
                      <a:solidFill>
                        <a:srgbClr val="FFBE00"/>
                      </a:solidFill>
                      <a:prstDash val="solid"/>
                    </a:lnT>
                    <a:lnB w="12700">
                      <a:solidFill>
                        <a:srgbClr val="FFBE00"/>
                      </a:solidFill>
                      <a:prstDash val="solid"/>
                    </a:lnB>
                  </a:tcPr>
                </a:tc>
                <a:extLst>
                  <a:ext uri="{0D108BD9-81ED-4DB2-BD59-A6C34878D82A}">
                    <a16:rowId xmlns:a16="http://schemas.microsoft.com/office/drawing/2014/main" val="10004"/>
                  </a:ext>
                </a:extLst>
              </a:tr>
            </a:tbl>
          </a:graphicData>
        </a:graphic>
      </p:graphicFrame>
      <p:sp>
        <p:nvSpPr>
          <p:cNvPr id="50" name="object 50"/>
          <p:cNvSpPr txBox="1"/>
          <p:nvPr/>
        </p:nvSpPr>
        <p:spPr>
          <a:xfrm>
            <a:off x="6852284" y="1743392"/>
            <a:ext cx="1466216" cy="320601"/>
          </a:xfrm>
          <a:prstGeom prst="rect">
            <a:avLst/>
          </a:prstGeom>
        </p:spPr>
        <p:txBody>
          <a:bodyPr vert="horz" wrap="square" lIns="0" tIns="12700" rIns="0" bIns="0" rtlCol="0">
            <a:spAutoFit/>
          </a:bodyPr>
          <a:lstStyle/>
          <a:p>
            <a:pPr marL="12700">
              <a:lnSpc>
                <a:spcPct val="100000"/>
              </a:lnSpc>
              <a:spcBef>
                <a:spcPts val="100"/>
              </a:spcBef>
            </a:pPr>
            <a:r>
              <a:rPr sz="2000" spc="-10" dirty="0">
                <a:latin typeface="Times New Roman" panose="02020603050405020304" pitchFamily="18" charset="0"/>
                <a:cs typeface="Times New Roman" panose="02020603050405020304" pitchFamily="18" charset="0"/>
              </a:rPr>
              <a:t>T</a:t>
            </a:r>
            <a:r>
              <a:rPr lang="en-IN" sz="2000" spc="-10" dirty="0" err="1">
                <a:latin typeface="Times New Roman" panose="02020603050405020304" pitchFamily="18" charset="0"/>
                <a:cs typeface="Times New Roman" panose="02020603050405020304" pitchFamily="18" charset="0"/>
              </a:rPr>
              <a:t>eam</a:t>
            </a:r>
            <a:r>
              <a:rPr sz="2000" spc="-155" dirty="0">
                <a:latin typeface="Times New Roman" panose="02020603050405020304" pitchFamily="18" charset="0"/>
                <a:cs typeface="Times New Roman" panose="02020603050405020304" pitchFamily="18" charset="0"/>
              </a:rPr>
              <a:t> </a:t>
            </a:r>
            <a:r>
              <a:rPr sz="2000" spc="-160" dirty="0">
                <a:latin typeface="Times New Roman" panose="02020603050405020304" pitchFamily="18" charset="0"/>
                <a:cs typeface="Times New Roman" panose="02020603050405020304" pitchFamily="18" charset="0"/>
              </a:rPr>
              <a:t>:</a:t>
            </a:r>
            <a:r>
              <a:rPr sz="2000" spc="-150" dirty="0">
                <a:latin typeface="Times New Roman" panose="02020603050405020304" pitchFamily="18" charset="0"/>
                <a:cs typeface="Times New Roman" panose="02020603050405020304" pitchFamily="18" charset="0"/>
              </a:rPr>
              <a:t> </a:t>
            </a:r>
            <a:r>
              <a:rPr lang="en-IN" sz="2000" spc="-55" dirty="0">
                <a:latin typeface="Times New Roman" panose="02020603050405020304" pitchFamily="18" charset="0"/>
                <a:cs typeface="Times New Roman" panose="02020603050405020304" pitchFamily="18" charset="0"/>
              </a:rPr>
              <a:t>B-15</a:t>
            </a:r>
            <a:endParaRPr sz="2000" dirty="0">
              <a:latin typeface="Times New Roman" panose="02020603050405020304" pitchFamily="18" charset="0"/>
              <a:cs typeface="Times New Roman" panose="02020603050405020304" pitchFamily="18" charset="0"/>
            </a:endParaRPr>
          </a:p>
        </p:txBody>
      </p:sp>
      <p:sp>
        <p:nvSpPr>
          <p:cNvPr id="51" name="object 51"/>
          <p:cNvSpPr txBox="1">
            <a:spLocks noGrp="1"/>
          </p:cNvSpPr>
          <p:nvPr>
            <p:ph type="sldNum" sz="quarter" idx="7"/>
          </p:nvPr>
        </p:nvSpPr>
        <p:spPr>
          <a:xfrm>
            <a:off x="10005059" y="5604922"/>
            <a:ext cx="216534" cy="269304"/>
          </a:xfrm>
          <a:prstGeom prst="rect">
            <a:avLst/>
          </a:prstGeom>
        </p:spPr>
        <p:txBody>
          <a:bodyPr vert="horz" wrap="square" lIns="0" tIns="0" rIns="0" bIns="0" rtlCol="0">
            <a:spAutoFit/>
          </a:bodyPr>
          <a:lstStyle/>
          <a:p>
            <a:pPr marL="38100">
              <a:lnSpc>
                <a:spcPts val="2090"/>
              </a:lnSpc>
            </a:pPr>
            <a:r>
              <a:rPr lang="en-IN" spc="-50" dirty="0"/>
              <a:t>.</a:t>
            </a:r>
            <a:endParaRPr spc="-50" dirty="0"/>
          </a:p>
        </p:txBody>
      </p:sp>
      <p:sp>
        <p:nvSpPr>
          <p:cNvPr id="36" name="TextBox 35">
            <a:extLst>
              <a:ext uri="{FF2B5EF4-FFF2-40B4-BE49-F238E27FC236}">
                <a16:creationId xmlns:a16="http://schemas.microsoft.com/office/drawing/2014/main" id="{46D84616-63F5-E34C-7A5B-FAEBF2251D9B}"/>
              </a:ext>
            </a:extLst>
          </p:cNvPr>
          <p:cNvSpPr txBox="1"/>
          <p:nvPr/>
        </p:nvSpPr>
        <p:spPr>
          <a:xfrm>
            <a:off x="10226673" y="5604922"/>
            <a:ext cx="312906" cy="369332"/>
          </a:xfrm>
          <a:prstGeom prst="rect">
            <a:avLst/>
          </a:prstGeom>
          <a:noFill/>
        </p:spPr>
        <p:txBody>
          <a:bodyPr wrap="none" rtlCol="0">
            <a:spAutoFit/>
          </a:bodyPr>
          <a:lstStyle/>
          <a:p>
            <a:r>
              <a:rPr lang="en-IN"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2300" y="488584"/>
            <a:ext cx="6062980" cy="477695"/>
          </a:xfrm>
          <a:prstGeom prst="rect">
            <a:avLst/>
          </a:prstGeom>
        </p:spPr>
        <p:txBody>
          <a:bodyPr vert="horz" wrap="square" lIns="0" tIns="15875" rIns="0" bIns="0" rtlCol="0">
            <a:spAutoFit/>
          </a:bodyPr>
          <a:lstStyle/>
          <a:p>
            <a:pPr marL="12700">
              <a:lnSpc>
                <a:spcPct val="100000"/>
              </a:lnSpc>
              <a:spcBef>
                <a:spcPts val="125"/>
              </a:spcBef>
            </a:pPr>
            <a:r>
              <a:rPr lang="en-IN" sz="3000" spc="-75" dirty="0">
                <a:latin typeface="Times New Roman" panose="02020603050405020304" pitchFamily="18" charset="0"/>
                <a:cs typeface="Times New Roman" panose="02020603050405020304" pitchFamily="18" charset="0"/>
              </a:rPr>
              <a:t>MOTIVATION</a:t>
            </a:r>
            <a:endParaRPr sz="3000" dirty="0">
              <a:latin typeface="Times New Roman" panose="02020603050405020304" pitchFamily="18" charset="0"/>
              <a:cs typeface="Times New Roman" panose="02020603050405020304" pitchFamily="18" charset="0"/>
            </a:endParaRPr>
          </a:p>
        </p:txBody>
      </p:sp>
      <p:sp>
        <p:nvSpPr>
          <p:cNvPr id="3" name="object 3"/>
          <p:cNvSpPr/>
          <p:nvPr/>
        </p:nvSpPr>
        <p:spPr>
          <a:xfrm>
            <a:off x="622300" y="483043"/>
            <a:ext cx="647065" cy="45719"/>
          </a:xfrm>
          <a:custGeom>
            <a:avLst/>
            <a:gdLst/>
            <a:ahLst/>
            <a:cxnLst/>
            <a:rect l="l" t="t" r="r" b="b"/>
            <a:pathLst>
              <a:path w="647065">
                <a:moveTo>
                  <a:pt x="0" y="0"/>
                </a:moveTo>
                <a:lnTo>
                  <a:pt x="646557" y="0"/>
                </a:lnTo>
              </a:path>
            </a:pathLst>
          </a:custGeom>
          <a:ln w="57166">
            <a:solidFill>
              <a:srgbClr val="8063A1"/>
            </a:solidFill>
          </a:ln>
        </p:spPr>
        <p:txBody>
          <a:bodyPr wrap="square" lIns="0" tIns="0" rIns="0" bIns="0" rtlCol="0"/>
          <a:lstStyle/>
          <a:p>
            <a:endParaRPr/>
          </a:p>
        </p:txBody>
      </p:sp>
      <p:sp>
        <p:nvSpPr>
          <p:cNvPr id="4" name="object 4"/>
          <p:cNvSpPr txBox="1"/>
          <p:nvPr/>
        </p:nvSpPr>
        <p:spPr>
          <a:xfrm>
            <a:off x="317501" y="776882"/>
            <a:ext cx="8001000" cy="4615751"/>
          </a:xfrm>
          <a:prstGeom prst="rect">
            <a:avLst/>
          </a:prstGeom>
        </p:spPr>
        <p:txBody>
          <a:bodyPr vert="horz" wrap="square" lIns="0" tIns="127635" rIns="0" bIns="0" rtlCol="0">
            <a:spAutoFit/>
          </a:bodyPr>
          <a:lstStyle/>
          <a:p>
            <a:pPr>
              <a:buNone/>
            </a:pPr>
            <a:endParaRPr lang="en-IN" sz="10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sz="1900" dirty="0"/>
              <a:t>In recent years, millets have been recognized as nutrient grains  they require less water, grow well in dry regions, and are rich in nutrients.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sz="1900" dirty="0"/>
              <a:t>However, one major challenge faced by farmers, traders, and even consumers is the </a:t>
            </a:r>
            <a:r>
              <a:rPr lang="en-US" sz="1900" b="1" dirty="0"/>
              <a:t>difficulty in visually identifying different millet varieties</a:t>
            </a:r>
            <a:r>
              <a:rPr lang="en-US" sz="1900" dirty="0"/>
              <a:t>, as they often look very similar to each other.</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sz="1900" dirty="0"/>
              <a:t>Manual identification is </a:t>
            </a:r>
            <a:r>
              <a:rPr lang="en-US" sz="1900" b="1" dirty="0"/>
              <a:t>time-consuming, prone to errors</a:t>
            </a:r>
            <a:r>
              <a:rPr lang="en-US" sz="1900" dirty="0"/>
              <a:t>, and sometimes requires expert knowledge.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sz="1900" dirty="0"/>
              <a:t>Automated millet classification helps farmers, seed companies, and industries in sorting, certification, and traceability — enabling a modern data-driven </a:t>
            </a:r>
            <a:r>
              <a:rPr lang="en-US" sz="1900" dirty="0" err="1"/>
              <a:t>agri</a:t>
            </a:r>
            <a:r>
              <a:rPr lang="en-US" sz="1900" dirty="0"/>
              <a:t>-ecosystem.</a:t>
            </a:r>
            <a:endParaRPr kumimoji="0" lang="en-US" altLang="en-US" sz="19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2090"/>
              </a:lnSpc>
            </a:pPr>
            <a:fld id="{81D60167-4931-47E6-BA6A-407CBD079E47}" type="slidenum">
              <a:rPr spc="-50" dirty="0"/>
              <a:t>3</a:t>
            </a:fld>
            <a:endParaRPr spc="-50" dirty="0"/>
          </a:p>
        </p:txBody>
      </p:sp>
      <p:pic>
        <p:nvPicPr>
          <p:cNvPr id="5" name="Image 0" descr="preencoded.png"/>
          <p:cNvPicPr>
            <a:picLocks noChangeAspect="1"/>
          </p:cNvPicPr>
          <p:nvPr/>
        </p:nvPicPr>
        <p:blipFill>
          <a:blip r:embed="rId2"/>
          <a:stretch>
            <a:fillRect/>
          </a:stretch>
        </p:blipFill>
        <p:spPr>
          <a:xfrm>
            <a:off x="8761093" y="38100"/>
            <a:ext cx="1765300" cy="5981700"/>
          </a:xfrm>
          <a:prstGeom prst="rect">
            <a:avLst/>
          </a:prstGeom>
        </p:spPr>
      </p:pic>
      <p:sp>
        <p:nvSpPr>
          <p:cNvPr id="6" name="TextBox 5">
            <a:extLst>
              <a:ext uri="{FF2B5EF4-FFF2-40B4-BE49-F238E27FC236}">
                <a16:creationId xmlns:a16="http://schemas.microsoft.com/office/drawing/2014/main" id="{BF9FEE1F-6122-0184-AB03-2238A2AC0921}"/>
              </a:ext>
            </a:extLst>
          </p:cNvPr>
          <p:cNvSpPr txBox="1"/>
          <p:nvPr/>
        </p:nvSpPr>
        <p:spPr>
          <a:xfrm>
            <a:off x="10365887" y="5654054"/>
            <a:ext cx="312906" cy="369332"/>
          </a:xfrm>
          <a:prstGeom prst="rect">
            <a:avLst/>
          </a:prstGeom>
          <a:noFill/>
        </p:spPr>
        <p:txBody>
          <a:bodyPr wrap="none" rtlCol="0">
            <a:spAutoFit/>
          </a:bodyPr>
          <a:lstStyle/>
          <a:p>
            <a:r>
              <a:rPr lang="en-IN"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4537" y="729893"/>
            <a:ext cx="9204325" cy="475130"/>
          </a:xfrm>
          <a:prstGeom prst="rect">
            <a:avLst/>
          </a:prstGeom>
        </p:spPr>
        <p:txBody>
          <a:bodyPr vert="horz" wrap="square" lIns="0" tIns="13335" rIns="0" bIns="0" rtlCol="0">
            <a:spAutoFit/>
          </a:bodyPr>
          <a:lstStyle/>
          <a:p>
            <a:pPr marL="12700">
              <a:lnSpc>
                <a:spcPct val="100000"/>
              </a:lnSpc>
              <a:spcBef>
                <a:spcPts val="105"/>
              </a:spcBef>
            </a:pPr>
            <a:r>
              <a:rPr sz="3000" spc="100" dirty="0">
                <a:latin typeface="Times New Roman" panose="02020603050405020304" pitchFamily="18" charset="0"/>
                <a:cs typeface="Times New Roman" panose="02020603050405020304" pitchFamily="18" charset="0"/>
              </a:rPr>
              <a:t>PROBLEM</a:t>
            </a:r>
            <a:r>
              <a:rPr sz="3000" spc="-325" dirty="0">
                <a:latin typeface="Times New Roman" panose="02020603050405020304" pitchFamily="18" charset="0"/>
                <a:cs typeface="Times New Roman" panose="02020603050405020304" pitchFamily="18" charset="0"/>
              </a:rPr>
              <a:t> </a:t>
            </a:r>
            <a:r>
              <a:rPr sz="3000" spc="-50" dirty="0">
                <a:latin typeface="Times New Roman" panose="02020603050405020304" pitchFamily="18" charset="0"/>
                <a:cs typeface="Times New Roman" panose="02020603050405020304" pitchFamily="18" charset="0"/>
              </a:rPr>
              <a:t>STATEMENT</a:t>
            </a:r>
          </a:p>
        </p:txBody>
      </p:sp>
      <p:sp>
        <p:nvSpPr>
          <p:cNvPr id="3" name="object 3"/>
          <p:cNvSpPr/>
          <p:nvPr/>
        </p:nvSpPr>
        <p:spPr>
          <a:xfrm>
            <a:off x="744537" y="571500"/>
            <a:ext cx="647065" cy="0"/>
          </a:xfrm>
          <a:custGeom>
            <a:avLst/>
            <a:gdLst/>
            <a:ahLst/>
            <a:cxnLst/>
            <a:rect l="l" t="t" r="r" b="b"/>
            <a:pathLst>
              <a:path w="647065">
                <a:moveTo>
                  <a:pt x="0" y="0"/>
                </a:moveTo>
                <a:lnTo>
                  <a:pt x="646557" y="0"/>
                </a:lnTo>
              </a:path>
            </a:pathLst>
          </a:custGeom>
          <a:ln w="57166">
            <a:solidFill>
              <a:srgbClr val="8063A1"/>
            </a:solidFill>
          </a:ln>
        </p:spPr>
        <p:txBody>
          <a:bodyPr wrap="square" lIns="0" tIns="0" rIns="0" bIns="0" rtlCol="0"/>
          <a:lstStyle/>
          <a:p>
            <a:endParaRPr/>
          </a:p>
        </p:txBody>
      </p:sp>
      <p:sp>
        <p:nvSpPr>
          <p:cNvPr id="4" name="object 4"/>
          <p:cNvSpPr txBox="1"/>
          <p:nvPr/>
        </p:nvSpPr>
        <p:spPr>
          <a:xfrm>
            <a:off x="630236" y="1160903"/>
            <a:ext cx="5867400" cy="4602222"/>
          </a:xfrm>
          <a:prstGeom prst="rect">
            <a:avLst/>
          </a:prstGeom>
        </p:spPr>
        <p:txBody>
          <a:bodyPr vert="horz" wrap="square" lIns="0" tIns="34925" rIns="0" bIns="0" rtlCol="0">
            <a:spAutoFit/>
          </a:bodyPr>
          <a:lstStyle/>
          <a:p>
            <a:pPr marL="139700" indent="0">
              <a:lnSpc>
                <a:spcPct val="150000"/>
              </a:lnSpc>
              <a:buNone/>
            </a:pPr>
            <a:r>
              <a:rPr lang="en-US" sz="2000" dirty="0"/>
              <a:t>Manual identification of millet types is often inaccurate and inefficient, especially for farmers, food industries, and consumers who lack technical expertise. There is also limited awareness about the nutritional benefits, health impacts, and uses of different millets. Hence, there is a need for a system that can classify millet types from images and provide detailed information, promoting better utilization and awareness of these nutritious grains.</a:t>
            </a:r>
            <a:endParaRPr lang="en-IN" sz="1800" dirty="0">
              <a:latin typeface="+mn-lt"/>
              <a:cs typeface="Times New Roman" panose="02020603050405020304" pitchFamily="18" charset="0"/>
            </a:endParaRPr>
          </a:p>
        </p:txBody>
      </p:sp>
      <p:sp>
        <p:nvSpPr>
          <p:cNvPr id="8" name="object 8"/>
          <p:cNvSpPr txBox="1">
            <a:spLocks noGrp="1"/>
          </p:cNvSpPr>
          <p:nvPr>
            <p:ph type="sldNum" sz="quarter" idx="7"/>
          </p:nvPr>
        </p:nvSpPr>
        <p:spPr>
          <a:xfrm>
            <a:off x="10005058" y="5448300"/>
            <a:ext cx="523241" cy="269304"/>
          </a:xfrm>
          <a:prstGeom prst="rect">
            <a:avLst/>
          </a:prstGeom>
        </p:spPr>
        <p:txBody>
          <a:bodyPr vert="horz" wrap="square" lIns="0" tIns="0" rIns="0" bIns="0" rtlCol="0">
            <a:spAutoFit/>
          </a:bodyPr>
          <a:lstStyle/>
          <a:p>
            <a:pPr marL="38100">
              <a:lnSpc>
                <a:spcPts val="2090"/>
              </a:lnSpc>
            </a:pPr>
            <a:r>
              <a:rPr lang="en-IN" spc="-50" dirty="0"/>
              <a:t>.</a:t>
            </a:r>
            <a:endParaRPr spc="-50" dirty="0"/>
          </a:p>
        </p:txBody>
      </p:sp>
      <p:pic>
        <p:nvPicPr>
          <p:cNvPr id="10" name="Image 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413500" y="1318616"/>
            <a:ext cx="4191000" cy="4251064"/>
          </a:xfrm>
          <a:prstGeom prst="rect">
            <a:avLst/>
          </a:prstGeom>
        </p:spPr>
      </p:pic>
      <p:sp>
        <p:nvSpPr>
          <p:cNvPr id="5" name="TextBox 4">
            <a:extLst>
              <a:ext uri="{FF2B5EF4-FFF2-40B4-BE49-F238E27FC236}">
                <a16:creationId xmlns:a16="http://schemas.microsoft.com/office/drawing/2014/main" id="{F260DDB5-6B29-99F2-7789-A145F0D0375B}"/>
              </a:ext>
            </a:extLst>
          </p:cNvPr>
          <p:cNvSpPr txBox="1"/>
          <p:nvPr/>
        </p:nvSpPr>
        <p:spPr>
          <a:xfrm>
            <a:off x="10329694" y="5598192"/>
            <a:ext cx="312906" cy="369332"/>
          </a:xfrm>
          <a:prstGeom prst="rect">
            <a:avLst/>
          </a:prstGeom>
          <a:noFill/>
        </p:spPr>
        <p:txBody>
          <a:bodyPr wrap="none" rtlCol="0">
            <a:spAutoFit/>
          </a:bodyPr>
          <a:lstStyle/>
          <a:p>
            <a:r>
              <a:rPr lang="en-IN"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4700" y="924014"/>
            <a:ext cx="8899525" cy="475130"/>
          </a:xfrm>
          <a:prstGeom prst="rect">
            <a:avLst/>
          </a:prstGeom>
        </p:spPr>
        <p:txBody>
          <a:bodyPr vert="horz" wrap="square" lIns="0" tIns="13335" rIns="0" bIns="0" rtlCol="0">
            <a:spAutoFit/>
          </a:bodyPr>
          <a:lstStyle/>
          <a:p>
            <a:pPr marL="12700">
              <a:lnSpc>
                <a:spcPct val="100000"/>
              </a:lnSpc>
              <a:spcBef>
                <a:spcPts val="105"/>
              </a:spcBef>
            </a:pPr>
            <a:r>
              <a:rPr lang="en-IN" sz="3000" spc="-10" dirty="0">
                <a:latin typeface="Times New Roman" panose="02020603050405020304" pitchFamily="18" charset="0"/>
                <a:cs typeface="Times New Roman" panose="02020603050405020304" pitchFamily="18" charset="0"/>
              </a:rPr>
              <a:t>OBJECTIVE</a:t>
            </a:r>
            <a:endParaRPr sz="3000" spc="-10" dirty="0">
              <a:latin typeface="Times New Roman" panose="02020603050405020304" pitchFamily="18" charset="0"/>
              <a:cs typeface="Times New Roman" panose="02020603050405020304" pitchFamily="18" charset="0"/>
            </a:endParaRPr>
          </a:p>
        </p:txBody>
      </p:sp>
      <p:sp>
        <p:nvSpPr>
          <p:cNvPr id="3" name="object 3"/>
          <p:cNvSpPr/>
          <p:nvPr/>
        </p:nvSpPr>
        <p:spPr>
          <a:xfrm>
            <a:off x="774700" y="723900"/>
            <a:ext cx="647065" cy="0"/>
          </a:xfrm>
          <a:custGeom>
            <a:avLst/>
            <a:gdLst/>
            <a:ahLst/>
            <a:cxnLst/>
            <a:rect l="l" t="t" r="r" b="b"/>
            <a:pathLst>
              <a:path w="647065">
                <a:moveTo>
                  <a:pt x="0" y="0"/>
                </a:moveTo>
                <a:lnTo>
                  <a:pt x="646557" y="0"/>
                </a:lnTo>
              </a:path>
            </a:pathLst>
          </a:custGeom>
          <a:ln w="57166">
            <a:solidFill>
              <a:srgbClr val="8063A1"/>
            </a:solidFill>
          </a:ln>
        </p:spPr>
        <p:txBody>
          <a:bodyPr wrap="square" lIns="0" tIns="0" rIns="0" bIns="0" rtlCol="0"/>
          <a:lstStyle/>
          <a:p>
            <a:endParaRPr/>
          </a:p>
        </p:txBody>
      </p:sp>
      <p:sp>
        <p:nvSpPr>
          <p:cNvPr id="4" name="object 4"/>
          <p:cNvSpPr txBox="1"/>
          <p:nvPr/>
        </p:nvSpPr>
        <p:spPr>
          <a:xfrm>
            <a:off x="469900" y="1426160"/>
            <a:ext cx="5410200" cy="3965829"/>
          </a:xfrm>
          <a:prstGeom prst="rect">
            <a:avLst/>
          </a:prstGeom>
        </p:spPr>
        <p:txBody>
          <a:bodyPr vert="horz" wrap="square" lIns="0" tIns="41275" rIns="0" bIns="0" rtlCol="0">
            <a:spAutoFit/>
          </a:bodyPr>
          <a:lstStyle/>
          <a:p>
            <a:pPr marL="342900" indent="-342900" eaLnBrk="0" fontAlgn="base" hangingPunct="0">
              <a:lnSpc>
                <a:spcPct val="150000"/>
              </a:lnSpc>
              <a:spcBef>
                <a:spcPct val="0"/>
              </a:spcBef>
              <a:spcAft>
                <a:spcPct val="0"/>
              </a:spcAft>
              <a:buClrTx/>
              <a:buSzTx/>
              <a:buFont typeface="Arial" panose="020B0604020202020204" pitchFamily="34" charset="0"/>
              <a:buChar char="•"/>
            </a:pPr>
            <a:r>
              <a:rPr lang="en-US" sz="2000" dirty="0"/>
              <a:t>To develop a millet classification system using Vision Transformers.</a:t>
            </a:r>
          </a:p>
          <a:p>
            <a:pPr marL="342900" indent="-342900" eaLnBrk="0" fontAlgn="base" hangingPunct="0">
              <a:lnSpc>
                <a:spcPct val="150000"/>
              </a:lnSpc>
              <a:spcBef>
                <a:spcPct val="0"/>
              </a:spcBef>
              <a:spcAft>
                <a:spcPct val="0"/>
              </a:spcAft>
              <a:buClrTx/>
              <a:buSzTx/>
              <a:buFont typeface="Arial" panose="020B0604020202020204" pitchFamily="34" charset="0"/>
              <a:buChar char="•"/>
            </a:pPr>
            <a:r>
              <a:rPr lang="en-US" sz="2000" dirty="0"/>
              <a:t>To provide detailed information on nutritional facts, health benefits, uses, and recipes for each millet.</a:t>
            </a:r>
          </a:p>
          <a:p>
            <a:pPr marL="342900" indent="-342900" eaLnBrk="0" fontAlgn="base" hangingPunct="0">
              <a:lnSpc>
                <a:spcPct val="150000"/>
              </a:lnSpc>
              <a:spcBef>
                <a:spcPct val="0"/>
              </a:spcBef>
              <a:spcAft>
                <a:spcPct val="0"/>
              </a:spcAft>
              <a:buClrTx/>
              <a:buSzTx/>
              <a:buFont typeface="Arial" panose="020B0604020202020204" pitchFamily="34" charset="0"/>
              <a:buChar char="•"/>
            </a:pPr>
            <a:r>
              <a:rPr lang="en-US" sz="2000" dirty="0"/>
              <a:t>To promote millet awareness and healthy food choices through an easy-to-use interactive web application.</a:t>
            </a:r>
            <a:endParaRPr lang="en-US" sz="1600" spc="-10" dirty="0">
              <a:latin typeface="Times New Roman" panose="02020603050405020304" pitchFamily="18" charset="0"/>
              <a:cs typeface="Times New Roman" panose="02020603050405020304" pitchFamily="18" charset="0"/>
            </a:endParaRPr>
          </a:p>
          <a:p>
            <a:pPr marL="4445" marR="5715" algn="just">
              <a:lnSpc>
                <a:spcPts val="1500"/>
              </a:lnSpc>
              <a:spcBef>
                <a:spcPts val="325"/>
              </a:spcBef>
              <a:buSzPct val="79000"/>
              <a:tabLst>
                <a:tab pos="158750" algn="l"/>
                <a:tab pos="1689735" algn="l"/>
                <a:tab pos="2799715" algn="l"/>
              </a:tabLst>
            </a:pPr>
            <a:endParaRPr lang="en-US" sz="1600" spc="-10" dirty="0">
              <a:latin typeface="Times New Roman" panose="02020603050405020304" pitchFamily="18" charset="0"/>
              <a:cs typeface="Times New Roman" panose="02020603050405020304" pitchFamily="18" charset="0"/>
            </a:endParaRPr>
          </a:p>
        </p:txBody>
      </p:sp>
      <p:pic>
        <p:nvPicPr>
          <p:cNvPr id="5" name="Image 0"/>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956300" y="1846888"/>
            <a:ext cx="4523834" cy="3352820"/>
          </a:xfrm>
          <a:prstGeom prst="rect">
            <a:avLst/>
          </a:prstGeom>
        </p:spPr>
      </p:pic>
      <p:sp>
        <p:nvSpPr>
          <p:cNvPr id="6" name="TextBox 5">
            <a:extLst>
              <a:ext uri="{FF2B5EF4-FFF2-40B4-BE49-F238E27FC236}">
                <a16:creationId xmlns:a16="http://schemas.microsoft.com/office/drawing/2014/main" id="{7C64498C-9FAD-5F57-E0A2-DA2580CC6132}"/>
              </a:ext>
            </a:extLst>
          </p:cNvPr>
          <p:cNvSpPr txBox="1"/>
          <p:nvPr/>
        </p:nvSpPr>
        <p:spPr>
          <a:xfrm>
            <a:off x="7708900" y="5199708"/>
            <a:ext cx="1386918" cy="276999"/>
          </a:xfrm>
          <a:prstGeom prst="rect">
            <a:avLst/>
          </a:prstGeom>
          <a:noFill/>
        </p:spPr>
        <p:txBody>
          <a:bodyPr wrap="none" rtlCol="0">
            <a:spAutoFit/>
          </a:bodyPr>
          <a:lstStyle/>
          <a:p>
            <a:r>
              <a:rPr lang="en-IN" sz="1200" dirty="0"/>
              <a:t>Buck-wheat Millet</a:t>
            </a:r>
          </a:p>
        </p:txBody>
      </p:sp>
      <p:sp>
        <p:nvSpPr>
          <p:cNvPr id="7" name="TextBox 6">
            <a:extLst>
              <a:ext uri="{FF2B5EF4-FFF2-40B4-BE49-F238E27FC236}">
                <a16:creationId xmlns:a16="http://schemas.microsoft.com/office/drawing/2014/main" id="{7F70D09E-D337-8674-586D-A052EDB780DD}"/>
              </a:ext>
            </a:extLst>
          </p:cNvPr>
          <p:cNvSpPr txBox="1"/>
          <p:nvPr/>
        </p:nvSpPr>
        <p:spPr>
          <a:xfrm>
            <a:off x="10323681" y="5647452"/>
            <a:ext cx="312906" cy="369332"/>
          </a:xfrm>
          <a:prstGeom prst="rect">
            <a:avLst/>
          </a:prstGeom>
          <a:noFill/>
        </p:spPr>
        <p:txBody>
          <a:bodyPr wrap="none" rtlCol="0">
            <a:spAutoFit/>
          </a:bodyPr>
          <a:lstStyle/>
          <a:p>
            <a:r>
              <a:rPr lang="en-IN"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B8E3CED-AC68-C787-1616-03794A77B3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D04DC69-4426-C055-2F45-833B08ABC96C}"/>
              </a:ext>
            </a:extLst>
          </p:cNvPr>
          <p:cNvSpPr txBox="1">
            <a:spLocks noGrp="1"/>
          </p:cNvSpPr>
          <p:nvPr>
            <p:ph type="title"/>
          </p:nvPr>
        </p:nvSpPr>
        <p:spPr>
          <a:xfrm>
            <a:off x="774700" y="945489"/>
            <a:ext cx="8899525" cy="475130"/>
          </a:xfrm>
          <a:prstGeom prst="rect">
            <a:avLst/>
          </a:prstGeom>
        </p:spPr>
        <p:txBody>
          <a:bodyPr vert="horz" wrap="square" lIns="0" tIns="13335" rIns="0" bIns="0" rtlCol="0">
            <a:spAutoFit/>
          </a:bodyPr>
          <a:lstStyle/>
          <a:p>
            <a:pPr marL="12700">
              <a:lnSpc>
                <a:spcPct val="100000"/>
              </a:lnSpc>
              <a:spcBef>
                <a:spcPts val="105"/>
              </a:spcBef>
            </a:pPr>
            <a:r>
              <a:rPr lang="en-IN" sz="3000" spc="-10" dirty="0">
                <a:latin typeface="Times New Roman" panose="02020603050405020304" pitchFamily="18" charset="0"/>
                <a:cs typeface="Times New Roman" panose="02020603050405020304" pitchFamily="18" charset="0"/>
              </a:rPr>
              <a:t>COURSE CONNECT</a:t>
            </a:r>
            <a:endParaRPr sz="3000" spc="-10" dirty="0">
              <a:latin typeface="Times New Roman" panose="02020603050405020304" pitchFamily="18" charset="0"/>
              <a:cs typeface="Times New Roman" panose="02020603050405020304" pitchFamily="18" charset="0"/>
            </a:endParaRPr>
          </a:p>
        </p:txBody>
      </p:sp>
      <p:sp>
        <p:nvSpPr>
          <p:cNvPr id="3" name="object 3">
            <a:extLst>
              <a:ext uri="{FF2B5EF4-FFF2-40B4-BE49-F238E27FC236}">
                <a16:creationId xmlns:a16="http://schemas.microsoft.com/office/drawing/2014/main" id="{6501B28F-BC1B-ED8E-86EB-E95BB516725F}"/>
              </a:ext>
            </a:extLst>
          </p:cNvPr>
          <p:cNvSpPr/>
          <p:nvPr/>
        </p:nvSpPr>
        <p:spPr>
          <a:xfrm>
            <a:off x="774700" y="723900"/>
            <a:ext cx="647065" cy="0"/>
          </a:xfrm>
          <a:custGeom>
            <a:avLst/>
            <a:gdLst/>
            <a:ahLst/>
            <a:cxnLst/>
            <a:rect l="l" t="t" r="r" b="b"/>
            <a:pathLst>
              <a:path w="647065">
                <a:moveTo>
                  <a:pt x="0" y="0"/>
                </a:moveTo>
                <a:lnTo>
                  <a:pt x="646557" y="0"/>
                </a:lnTo>
              </a:path>
            </a:pathLst>
          </a:custGeom>
          <a:ln w="57166">
            <a:solidFill>
              <a:srgbClr val="8063A1"/>
            </a:solidFill>
          </a:ln>
        </p:spPr>
        <p:txBody>
          <a:bodyPr wrap="square" lIns="0" tIns="0" rIns="0" bIns="0" rtlCol="0"/>
          <a:lstStyle/>
          <a:p>
            <a:endParaRPr/>
          </a:p>
        </p:txBody>
      </p:sp>
      <p:sp>
        <p:nvSpPr>
          <p:cNvPr id="4" name="object 4">
            <a:extLst>
              <a:ext uri="{FF2B5EF4-FFF2-40B4-BE49-F238E27FC236}">
                <a16:creationId xmlns:a16="http://schemas.microsoft.com/office/drawing/2014/main" id="{4EC9588B-CA9D-36B4-5414-C89B9AFF68B8}"/>
              </a:ext>
            </a:extLst>
          </p:cNvPr>
          <p:cNvSpPr txBox="1"/>
          <p:nvPr/>
        </p:nvSpPr>
        <p:spPr>
          <a:xfrm>
            <a:off x="469900" y="1599256"/>
            <a:ext cx="8763000" cy="3217676"/>
          </a:xfrm>
          <a:prstGeom prst="rect">
            <a:avLst/>
          </a:prstGeom>
        </p:spPr>
        <p:txBody>
          <a:bodyPr vert="horz" wrap="square" lIns="0" tIns="41275" rIns="0" bIns="0" rtlCol="0">
            <a:spAutoFit/>
          </a:bodyPr>
          <a:lstStyle/>
          <a:p>
            <a:pPr marL="342900" indent="-342900" eaLnBrk="0" fontAlgn="base" hangingPunct="0">
              <a:lnSpc>
                <a:spcPct val="150000"/>
              </a:lnSpc>
              <a:spcBef>
                <a:spcPct val="0"/>
              </a:spcBef>
              <a:spcAft>
                <a:spcPct val="0"/>
              </a:spcAft>
              <a:buClrTx/>
              <a:buSzTx/>
              <a:buFont typeface="Arial" panose="020B0604020202020204" pitchFamily="34" charset="0"/>
              <a:buChar char="•"/>
            </a:pPr>
            <a:r>
              <a:rPr lang="en-US" sz="2000" dirty="0"/>
              <a:t>Feature Extraction &amp; Model Training → AI, Machine Learning, Pattern Recognition.</a:t>
            </a:r>
          </a:p>
          <a:p>
            <a:pPr marL="342900" indent="-342900" eaLnBrk="0" fontAlgn="base" hangingPunct="0">
              <a:lnSpc>
                <a:spcPct val="150000"/>
              </a:lnSpc>
              <a:spcBef>
                <a:spcPct val="0"/>
              </a:spcBef>
              <a:spcAft>
                <a:spcPct val="0"/>
              </a:spcAft>
              <a:buClrTx/>
              <a:buSzTx/>
              <a:buFont typeface="Arial" panose="020B0604020202020204" pitchFamily="34" charset="0"/>
              <a:buChar char="•"/>
            </a:pPr>
            <a:r>
              <a:rPr lang="en-IN" sz="2000" dirty="0"/>
              <a:t>Vision Transformer (</a:t>
            </a:r>
            <a:r>
              <a:rPr lang="en-IN" sz="2000" dirty="0" err="1"/>
              <a:t>ViT</a:t>
            </a:r>
            <a:r>
              <a:rPr lang="en-IN" sz="2000" dirty="0"/>
              <a:t>) Implementation → Deep Learning, Computer Vision.</a:t>
            </a:r>
          </a:p>
          <a:p>
            <a:pPr marL="342900" indent="-342900" eaLnBrk="0" fontAlgn="base" hangingPunct="0">
              <a:lnSpc>
                <a:spcPct val="150000"/>
              </a:lnSpc>
              <a:spcBef>
                <a:spcPct val="0"/>
              </a:spcBef>
              <a:spcAft>
                <a:spcPct val="0"/>
              </a:spcAft>
              <a:buClrTx/>
              <a:buSzTx/>
              <a:buFont typeface="Arial" panose="020B0604020202020204" pitchFamily="34" charset="0"/>
              <a:buChar char="•"/>
            </a:pPr>
            <a:r>
              <a:rPr lang="en-US" sz="2000" dirty="0"/>
              <a:t>Model Optimization &amp; Regularization </a:t>
            </a:r>
            <a:r>
              <a:rPr lang="en-US" sz="2000" b="1" dirty="0"/>
              <a:t>→ </a:t>
            </a:r>
            <a:r>
              <a:rPr lang="en-IN" sz="2000" dirty="0"/>
              <a:t>Linear Algebra, Calculus.</a:t>
            </a:r>
          </a:p>
          <a:p>
            <a:pPr marL="342900" indent="-342900" eaLnBrk="0" fontAlgn="base" hangingPunct="0">
              <a:lnSpc>
                <a:spcPct val="150000"/>
              </a:lnSpc>
              <a:spcBef>
                <a:spcPct val="0"/>
              </a:spcBef>
              <a:spcAft>
                <a:spcPct val="0"/>
              </a:spcAft>
              <a:buClrTx/>
              <a:buSzTx/>
              <a:buFont typeface="Arial" panose="020B0604020202020204" pitchFamily="34" charset="0"/>
              <a:buChar char="•"/>
            </a:pPr>
            <a:r>
              <a:rPr lang="en-IN" sz="2000" dirty="0"/>
              <a:t>Evaluation Metrics &amp; Performance Analysis</a:t>
            </a:r>
            <a:r>
              <a:rPr lang="en-US" sz="2000" b="1" dirty="0"/>
              <a:t> → </a:t>
            </a:r>
            <a:r>
              <a:rPr lang="en-IN" sz="2000" dirty="0"/>
              <a:t>Statistics &amp; Data Analytics</a:t>
            </a:r>
          </a:p>
          <a:p>
            <a:pPr marL="342900" indent="-342900" eaLnBrk="0" fontAlgn="base" hangingPunct="0">
              <a:lnSpc>
                <a:spcPct val="150000"/>
              </a:lnSpc>
              <a:spcBef>
                <a:spcPct val="0"/>
              </a:spcBef>
              <a:spcAft>
                <a:spcPct val="0"/>
              </a:spcAft>
              <a:buClrTx/>
              <a:buSzTx/>
              <a:buFont typeface="Arial" panose="020B0604020202020204" pitchFamily="34" charset="0"/>
              <a:buChar char="•"/>
            </a:pPr>
            <a:r>
              <a:rPr lang="en-US" sz="2000" dirty="0"/>
              <a:t>Deployment &amp; User Interface </a:t>
            </a:r>
            <a:r>
              <a:rPr lang="en-US" sz="2000" b="1" dirty="0"/>
              <a:t>→ </a:t>
            </a:r>
            <a:r>
              <a:rPr lang="en-IN" sz="2000" dirty="0"/>
              <a:t>Software Engineering, Web Development</a:t>
            </a:r>
            <a:endParaRPr lang="en-US" sz="1600" spc="-1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DBF2CD5-7D91-D39E-080C-CD6E95F53260}"/>
              </a:ext>
            </a:extLst>
          </p:cNvPr>
          <p:cNvSpPr txBox="1"/>
          <p:nvPr/>
        </p:nvSpPr>
        <p:spPr>
          <a:xfrm>
            <a:off x="10299700" y="5600700"/>
            <a:ext cx="312906" cy="369332"/>
          </a:xfrm>
          <a:prstGeom prst="rect">
            <a:avLst/>
          </a:prstGeom>
          <a:noFill/>
        </p:spPr>
        <p:txBody>
          <a:bodyPr wrap="none" rtlCol="0">
            <a:spAutoFit/>
          </a:bodyPr>
          <a:lstStyle/>
          <a:p>
            <a:r>
              <a:rPr lang="en-IN" dirty="0"/>
              <a:t>6</a:t>
            </a:r>
          </a:p>
        </p:txBody>
      </p:sp>
    </p:spTree>
    <p:extLst>
      <p:ext uri="{BB962C8B-B14F-4D97-AF65-F5344CB8AC3E}">
        <p14:creationId xmlns:p14="http://schemas.microsoft.com/office/powerpoint/2010/main" val="1375239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8018" y="347278"/>
            <a:ext cx="2922588" cy="478336"/>
          </a:xfrm>
          <a:prstGeom prst="rect">
            <a:avLst/>
          </a:prstGeom>
        </p:spPr>
        <p:txBody>
          <a:bodyPr vert="horz" wrap="square" lIns="0" tIns="16510" rIns="0" bIns="0" rtlCol="0">
            <a:spAutoFit/>
          </a:bodyPr>
          <a:lstStyle/>
          <a:p>
            <a:pPr marL="12700">
              <a:lnSpc>
                <a:spcPct val="100000"/>
              </a:lnSpc>
              <a:spcBef>
                <a:spcPts val="130"/>
              </a:spcBef>
            </a:pPr>
            <a:r>
              <a:rPr lang="en-IN" sz="3000" spc="-10" dirty="0">
                <a:latin typeface="Times New Roman" panose="02020603050405020304" pitchFamily="18" charset="0"/>
                <a:cs typeface="Times New Roman" panose="02020603050405020304" pitchFamily="18" charset="0"/>
              </a:rPr>
              <a:t>METHODOLGY</a:t>
            </a:r>
            <a:endParaRPr sz="3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58018" y="911051"/>
            <a:ext cx="6122988" cy="4714239"/>
          </a:xfrm>
          <a:prstGeom prst="rect">
            <a:avLst/>
          </a:prstGeom>
        </p:spPr>
        <p:txBody>
          <a:bodyPr vert="horz" wrap="square" lIns="0" tIns="34925" rIns="0" bIns="0" rtlCol="0">
            <a:spAutoFit/>
          </a:bodyPr>
          <a:lstStyle/>
          <a:p>
            <a:pPr>
              <a:buNone/>
            </a:pPr>
            <a:r>
              <a:rPr lang="en-US" b="1" dirty="0"/>
              <a:t>Dataset Description:</a:t>
            </a:r>
          </a:p>
          <a:p>
            <a:pPr>
              <a:buNone/>
            </a:pPr>
            <a:r>
              <a:rPr lang="en-US" dirty="0"/>
              <a:t>Millet images of five categories: buck-wheat-millet, little-millet, pearl-millet, ragi-millet, and sorghum-millet.</a:t>
            </a:r>
          </a:p>
          <a:p>
            <a:pPr>
              <a:buNone/>
            </a:pPr>
            <a:r>
              <a:rPr lang="en-US" dirty="0"/>
              <a:t>The dataset was organized into train and test folders for supervised learning.</a:t>
            </a:r>
            <a:endParaRPr lang="en-US" dirty="0">
              <a:latin typeface="Times New Roman" panose="02020603050405020304" pitchFamily="18" charset="0"/>
              <a:cs typeface="Times New Roman" panose="02020603050405020304" pitchFamily="18" charset="0"/>
            </a:endParaRPr>
          </a:p>
          <a:p>
            <a:pPr marL="12700" marR="5715" algn="l">
              <a:lnSpc>
                <a:spcPct val="91000"/>
              </a:lnSpc>
              <a:spcBef>
                <a:spcPts val="275"/>
              </a:spcBef>
              <a:tabLst>
                <a:tab pos="504190" algn="l"/>
              </a:tabLst>
            </a:pPr>
            <a:r>
              <a:rPr lang="en-US" b="1" dirty="0"/>
              <a:t>Data Preprocessing:</a:t>
            </a:r>
          </a:p>
          <a:p>
            <a:pPr marL="12700" marR="5715" algn="l">
              <a:lnSpc>
                <a:spcPct val="91000"/>
              </a:lnSpc>
              <a:spcBef>
                <a:spcPts val="275"/>
              </a:spcBef>
              <a:tabLst>
                <a:tab pos="504190" algn="l"/>
              </a:tabLst>
            </a:pPr>
            <a:r>
              <a:rPr lang="en-US" dirty="0"/>
              <a:t> All images were resized to 224×224 pixels for uniform input dimensions.</a:t>
            </a:r>
          </a:p>
          <a:p>
            <a:pPr marL="12700" marR="5715" algn="l">
              <a:lnSpc>
                <a:spcPct val="91000"/>
              </a:lnSpc>
              <a:spcBef>
                <a:spcPts val="275"/>
              </a:spcBef>
              <a:tabLst>
                <a:tab pos="504190" algn="l"/>
              </a:tabLst>
            </a:pPr>
            <a:r>
              <a:rPr lang="en-US" dirty="0"/>
              <a:t>Applied normalization to scale pixel values for stable model convergence.</a:t>
            </a:r>
            <a:endParaRPr lang="en-US" dirty="0">
              <a:latin typeface="Times New Roman" panose="02020603050405020304" pitchFamily="18" charset="0"/>
              <a:cs typeface="Times New Roman" panose="02020603050405020304" pitchFamily="18" charset="0"/>
            </a:endParaRPr>
          </a:p>
          <a:p>
            <a:pPr marL="12700" marR="5715" algn="l">
              <a:lnSpc>
                <a:spcPct val="91000"/>
              </a:lnSpc>
              <a:spcBef>
                <a:spcPts val="275"/>
              </a:spcBef>
              <a:tabLst>
                <a:tab pos="504190" algn="l"/>
              </a:tabLst>
            </a:pPr>
            <a:r>
              <a:rPr lang="en-US" b="1" dirty="0"/>
              <a:t>Model Architecture:</a:t>
            </a:r>
          </a:p>
          <a:p>
            <a:pPr marL="12700" marR="5715" algn="l">
              <a:lnSpc>
                <a:spcPct val="91000"/>
              </a:lnSpc>
              <a:spcBef>
                <a:spcPts val="275"/>
              </a:spcBef>
              <a:tabLst>
                <a:tab pos="504190" algn="l"/>
              </a:tabLst>
            </a:pPr>
            <a:r>
              <a:rPr lang="en-US" dirty="0"/>
              <a:t>Implemented a Vision Transformer (</a:t>
            </a:r>
            <a:r>
              <a:rPr lang="en-US" dirty="0" err="1"/>
              <a:t>ViT</a:t>
            </a:r>
            <a:r>
              <a:rPr lang="en-US" dirty="0"/>
              <a:t>) model from the </a:t>
            </a:r>
            <a:r>
              <a:rPr lang="en-US" dirty="0" err="1"/>
              <a:t>timm</a:t>
            </a:r>
            <a:r>
              <a:rPr lang="en-US" dirty="0"/>
              <a:t> library.</a:t>
            </a:r>
          </a:p>
          <a:p>
            <a:pPr marL="12700" marR="5715" algn="l">
              <a:lnSpc>
                <a:spcPct val="91000"/>
              </a:lnSpc>
              <a:spcBef>
                <a:spcPts val="275"/>
              </a:spcBef>
              <a:tabLst>
                <a:tab pos="504190" algn="l"/>
              </a:tabLst>
            </a:pPr>
            <a:r>
              <a:rPr lang="en-US" dirty="0"/>
              <a:t>The pre-trained ViT-Base-Patch16-224 model was fine-tuned for millet image classification.</a:t>
            </a:r>
          </a:p>
          <a:p>
            <a:pPr marL="12700" marR="5715" algn="l">
              <a:lnSpc>
                <a:spcPct val="91000"/>
              </a:lnSpc>
              <a:spcBef>
                <a:spcPts val="275"/>
              </a:spcBef>
              <a:tabLst>
                <a:tab pos="504190" algn="l"/>
              </a:tabLst>
            </a:pPr>
            <a:r>
              <a:rPr lang="en-US" dirty="0"/>
              <a:t>Modified the final classification layer to output 5 classes corresponding to the millet types.</a:t>
            </a:r>
            <a:endParaRPr lang="en-US" dirty="0">
              <a:latin typeface="Times New Roman" panose="02020603050405020304" pitchFamily="18" charset="0"/>
              <a:cs typeface="Times New Roman" panose="02020603050405020304" pitchFamily="18" charset="0"/>
            </a:endParaRPr>
          </a:p>
        </p:txBody>
      </p:sp>
      <p:sp>
        <p:nvSpPr>
          <p:cNvPr id="8" name="object 8"/>
          <p:cNvSpPr txBox="1"/>
          <p:nvPr/>
        </p:nvSpPr>
        <p:spPr>
          <a:xfrm>
            <a:off x="10191368" y="5614899"/>
            <a:ext cx="241300" cy="185420"/>
          </a:xfrm>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z="1100" spc="-25" dirty="0">
                <a:latin typeface="Arial MT"/>
                <a:cs typeface="Arial MT"/>
              </a:rPr>
              <a:t>7</a:t>
            </a:fld>
            <a:endParaRPr sz="1100">
              <a:latin typeface="Arial MT"/>
              <a:cs typeface="Arial MT"/>
            </a:endParaRPr>
          </a:p>
        </p:txBody>
      </p:sp>
      <p:sp>
        <p:nvSpPr>
          <p:cNvPr id="10" name="object 3"/>
          <p:cNvSpPr/>
          <p:nvPr/>
        </p:nvSpPr>
        <p:spPr>
          <a:xfrm>
            <a:off x="658018" y="342900"/>
            <a:ext cx="647065" cy="0"/>
          </a:xfrm>
          <a:custGeom>
            <a:avLst/>
            <a:gdLst/>
            <a:ahLst/>
            <a:cxnLst/>
            <a:rect l="l" t="t" r="r" b="b"/>
            <a:pathLst>
              <a:path w="647065">
                <a:moveTo>
                  <a:pt x="0" y="0"/>
                </a:moveTo>
                <a:lnTo>
                  <a:pt x="646557" y="0"/>
                </a:lnTo>
              </a:path>
            </a:pathLst>
          </a:custGeom>
          <a:ln w="57166">
            <a:solidFill>
              <a:srgbClr val="8063A1"/>
            </a:solidFill>
          </a:ln>
        </p:spPr>
        <p:txBody>
          <a:bodyPr wrap="square" lIns="0" tIns="0" rIns="0" bIns="0" rtlCol="0"/>
          <a:lstStyle/>
          <a:p>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019100" y="760836"/>
            <a:ext cx="3413568" cy="5038790"/>
          </a:xfrm>
          <a:prstGeom prst="rect">
            <a:avLst/>
          </a:prstGeom>
        </p:spPr>
      </p:pic>
      <p:sp>
        <p:nvSpPr>
          <p:cNvPr id="4" name="TextBox 3">
            <a:extLst>
              <a:ext uri="{FF2B5EF4-FFF2-40B4-BE49-F238E27FC236}">
                <a16:creationId xmlns:a16="http://schemas.microsoft.com/office/drawing/2014/main" id="{FC4AAEA1-A3EF-8F09-F66A-2AD914A8A0DF}"/>
              </a:ext>
            </a:extLst>
          </p:cNvPr>
          <p:cNvSpPr txBox="1"/>
          <p:nvPr/>
        </p:nvSpPr>
        <p:spPr>
          <a:xfrm>
            <a:off x="10299700" y="5676900"/>
            <a:ext cx="312906" cy="369332"/>
          </a:xfrm>
          <a:prstGeom prst="rect">
            <a:avLst/>
          </a:prstGeom>
          <a:noFill/>
        </p:spPr>
        <p:txBody>
          <a:bodyPr wrap="none" rtlCol="0">
            <a:spAutoFit/>
          </a:bodyPr>
          <a:lstStyle/>
          <a:p>
            <a:r>
              <a:rPr lang="en-IN"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02CC0-CA85-30CD-4035-76E1405C2326}"/>
              </a:ext>
            </a:extLst>
          </p:cNvPr>
          <p:cNvSpPr>
            <a:spLocks noGrp="1"/>
          </p:cNvSpPr>
          <p:nvPr>
            <p:ph type="title"/>
          </p:nvPr>
        </p:nvSpPr>
        <p:spPr>
          <a:xfrm>
            <a:off x="571269" y="598886"/>
            <a:ext cx="9204325" cy="553998"/>
          </a:xfrm>
        </p:spPr>
        <p:txBody>
          <a:bodyPr/>
          <a:lstStyle/>
          <a:p>
            <a:r>
              <a:rPr lang="en-IN" spc="-10" dirty="0">
                <a:latin typeface="Times New Roman" panose="02020603050405020304" pitchFamily="18" charset="0"/>
                <a:cs typeface="Times New Roman" panose="02020603050405020304" pitchFamily="18" charset="0"/>
              </a:rPr>
              <a:t>VISION TRANSFORMER ARCHITECTURE</a:t>
            </a:r>
            <a:endParaRPr lang="en-IN" dirty="0"/>
          </a:p>
        </p:txBody>
      </p:sp>
      <p:sp>
        <p:nvSpPr>
          <p:cNvPr id="4" name="object 3">
            <a:extLst>
              <a:ext uri="{FF2B5EF4-FFF2-40B4-BE49-F238E27FC236}">
                <a16:creationId xmlns:a16="http://schemas.microsoft.com/office/drawing/2014/main" id="{A974B726-0D54-25E9-16B1-9EB64B033670}"/>
              </a:ext>
            </a:extLst>
          </p:cNvPr>
          <p:cNvSpPr/>
          <p:nvPr/>
        </p:nvSpPr>
        <p:spPr>
          <a:xfrm>
            <a:off x="571269" y="419100"/>
            <a:ext cx="647065" cy="0"/>
          </a:xfrm>
          <a:custGeom>
            <a:avLst/>
            <a:gdLst/>
            <a:ahLst/>
            <a:cxnLst/>
            <a:rect l="l" t="t" r="r" b="b"/>
            <a:pathLst>
              <a:path w="647065">
                <a:moveTo>
                  <a:pt x="0" y="0"/>
                </a:moveTo>
                <a:lnTo>
                  <a:pt x="646557" y="0"/>
                </a:lnTo>
              </a:path>
            </a:pathLst>
          </a:custGeom>
          <a:ln w="57166">
            <a:solidFill>
              <a:srgbClr val="8063A1"/>
            </a:solidFill>
          </a:ln>
        </p:spPr>
        <p:txBody>
          <a:bodyPr wrap="square" lIns="0" tIns="0" rIns="0" bIns="0" rtlCol="0"/>
          <a:lstStyle/>
          <a:p>
            <a:endParaRPr/>
          </a:p>
        </p:txBody>
      </p:sp>
      <p:pic>
        <p:nvPicPr>
          <p:cNvPr id="7" name="Picture 6">
            <a:extLst>
              <a:ext uri="{FF2B5EF4-FFF2-40B4-BE49-F238E27FC236}">
                <a16:creationId xmlns:a16="http://schemas.microsoft.com/office/drawing/2014/main" id="{53B57C8E-856B-FC36-D673-460C49ACD4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700" y="1687345"/>
            <a:ext cx="10299700" cy="3780145"/>
          </a:xfrm>
          <a:prstGeom prst="rect">
            <a:avLst/>
          </a:prstGeom>
        </p:spPr>
      </p:pic>
      <p:sp>
        <p:nvSpPr>
          <p:cNvPr id="3" name="TextBox 2">
            <a:extLst>
              <a:ext uri="{FF2B5EF4-FFF2-40B4-BE49-F238E27FC236}">
                <a16:creationId xmlns:a16="http://schemas.microsoft.com/office/drawing/2014/main" id="{9E637C06-ECA8-DC06-B09A-3DB2B8B5FE03}"/>
              </a:ext>
            </a:extLst>
          </p:cNvPr>
          <p:cNvSpPr txBox="1"/>
          <p:nvPr/>
        </p:nvSpPr>
        <p:spPr>
          <a:xfrm>
            <a:off x="10299700" y="5676900"/>
            <a:ext cx="312906" cy="369332"/>
          </a:xfrm>
          <a:prstGeom prst="rect">
            <a:avLst/>
          </a:prstGeom>
          <a:noFill/>
        </p:spPr>
        <p:txBody>
          <a:bodyPr wrap="none" rtlCol="0">
            <a:spAutoFit/>
          </a:bodyPr>
          <a:lstStyle/>
          <a:p>
            <a:r>
              <a:rPr lang="en-IN" dirty="0"/>
              <a:t>8</a:t>
            </a:r>
          </a:p>
        </p:txBody>
      </p:sp>
    </p:spTree>
    <p:extLst>
      <p:ext uri="{BB962C8B-B14F-4D97-AF65-F5344CB8AC3E}">
        <p14:creationId xmlns:p14="http://schemas.microsoft.com/office/powerpoint/2010/main" val="2483650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6077" y="921694"/>
            <a:ext cx="3532188" cy="478336"/>
          </a:xfrm>
          <a:prstGeom prst="rect">
            <a:avLst/>
          </a:prstGeom>
        </p:spPr>
        <p:txBody>
          <a:bodyPr vert="horz" wrap="square" lIns="0" tIns="16510" rIns="0" bIns="0" rtlCol="0">
            <a:spAutoFit/>
          </a:bodyPr>
          <a:lstStyle/>
          <a:p>
            <a:pPr marL="12700">
              <a:lnSpc>
                <a:spcPct val="100000"/>
              </a:lnSpc>
              <a:spcBef>
                <a:spcPts val="130"/>
              </a:spcBef>
            </a:pPr>
            <a:r>
              <a:rPr lang="en-IN" sz="3000" spc="-10" dirty="0">
                <a:latin typeface="Times New Roman" panose="02020603050405020304" pitchFamily="18" charset="0"/>
                <a:cs typeface="Times New Roman" panose="02020603050405020304" pitchFamily="18" charset="0"/>
              </a:rPr>
              <a:t>METHODOLOGY</a:t>
            </a:r>
            <a:endParaRPr sz="3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622300" y="1462003"/>
            <a:ext cx="5349240" cy="4180953"/>
          </a:xfrm>
          <a:prstGeom prst="rect">
            <a:avLst/>
          </a:prstGeom>
          <a:noFill/>
        </p:spPr>
        <p:txBody>
          <a:bodyPr wrap="square">
            <a:spAutoFit/>
          </a:bodyPr>
          <a:lstStyle/>
          <a:p>
            <a:pPr marL="12700" marR="5715" algn="l">
              <a:lnSpc>
                <a:spcPct val="91000"/>
              </a:lnSpc>
              <a:spcBef>
                <a:spcPts val="275"/>
              </a:spcBef>
              <a:tabLst>
                <a:tab pos="504190" algn="l"/>
              </a:tabLst>
            </a:pPr>
            <a:r>
              <a:rPr lang="en-US" b="1" dirty="0"/>
              <a:t>Training Phase:</a:t>
            </a:r>
          </a:p>
          <a:p>
            <a:pPr marL="12700" marR="5715" algn="l">
              <a:lnSpc>
                <a:spcPct val="91000"/>
              </a:lnSpc>
              <a:spcBef>
                <a:spcPts val="275"/>
              </a:spcBef>
              <a:tabLst>
                <a:tab pos="504190" algn="l"/>
              </a:tabLst>
            </a:pPr>
            <a:r>
              <a:rPr lang="en-US" dirty="0"/>
              <a:t>The model was trained using the Adam optimizer and Cross Entropy Loss function.</a:t>
            </a:r>
          </a:p>
          <a:p>
            <a:pPr marL="12700" marR="5715" algn="l">
              <a:lnSpc>
                <a:spcPct val="91000"/>
              </a:lnSpc>
              <a:spcBef>
                <a:spcPts val="275"/>
              </a:spcBef>
              <a:tabLst>
                <a:tab pos="504190" algn="l"/>
              </a:tabLst>
            </a:pPr>
            <a:r>
              <a:rPr lang="en-US" dirty="0"/>
              <a:t>Training was performed for 10 epochs with a batch size of 32.</a:t>
            </a:r>
            <a:endParaRPr lang="en-US" dirty="0">
              <a:latin typeface="Times New Roman" panose="02020603050405020304" pitchFamily="18" charset="0"/>
              <a:cs typeface="Times New Roman" panose="02020603050405020304" pitchFamily="18" charset="0"/>
            </a:endParaRPr>
          </a:p>
          <a:p>
            <a:pPr marL="12700" marR="5715" algn="l">
              <a:lnSpc>
                <a:spcPct val="91000"/>
              </a:lnSpc>
              <a:spcBef>
                <a:spcPts val="275"/>
              </a:spcBef>
              <a:tabLst>
                <a:tab pos="504190" algn="l"/>
              </a:tabLst>
            </a:pPr>
            <a:r>
              <a:rPr lang="en-US" b="1" dirty="0"/>
              <a:t>Evaluation:</a:t>
            </a:r>
          </a:p>
          <a:p>
            <a:pPr marL="12700" marR="5715" algn="l">
              <a:lnSpc>
                <a:spcPct val="91000"/>
              </a:lnSpc>
              <a:spcBef>
                <a:spcPts val="275"/>
              </a:spcBef>
              <a:tabLst>
                <a:tab pos="504190" algn="l"/>
              </a:tabLst>
            </a:pPr>
            <a:r>
              <a:rPr lang="en-US" dirty="0"/>
              <a:t>The trained model was evaluated on the test dataset.</a:t>
            </a:r>
          </a:p>
          <a:p>
            <a:pPr marL="12700" marR="5715" algn="l">
              <a:lnSpc>
                <a:spcPct val="91000"/>
              </a:lnSpc>
              <a:spcBef>
                <a:spcPts val="275"/>
              </a:spcBef>
              <a:tabLst>
                <a:tab pos="504190" algn="l"/>
              </a:tabLst>
            </a:pPr>
            <a:r>
              <a:rPr lang="en-US" dirty="0"/>
              <a:t>Computed accuracy score to measure overall performance.</a:t>
            </a:r>
          </a:p>
          <a:p>
            <a:pPr marL="12700" marR="5715" algn="l">
              <a:lnSpc>
                <a:spcPct val="91000"/>
              </a:lnSpc>
              <a:spcBef>
                <a:spcPts val="275"/>
              </a:spcBef>
              <a:tabLst>
                <a:tab pos="504190" algn="l"/>
              </a:tabLst>
            </a:pPr>
            <a:r>
              <a:rPr lang="en-US" b="1" dirty="0"/>
              <a:t>Output:</a:t>
            </a:r>
          </a:p>
          <a:p>
            <a:pPr marL="12700" marR="5715" algn="l">
              <a:lnSpc>
                <a:spcPct val="91000"/>
              </a:lnSpc>
              <a:spcBef>
                <a:spcPts val="275"/>
              </a:spcBef>
              <a:tabLst>
                <a:tab pos="504190" algn="l"/>
              </a:tabLst>
            </a:pPr>
            <a:r>
              <a:rPr lang="en-US" dirty="0"/>
              <a:t>The system accurately identifies the given millet image as one of the five categories.</a:t>
            </a:r>
          </a:p>
          <a:p>
            <a:pPr marL="12700" marR="5715" algn="l">
              <a:lnSpc>
                <a:spcPct val="91000"/>
              </a:lnSpc>
              <a:spcBef>
                <a:spcPts val="275"/>
              </a:spcBef>
              <a:tabLst>
                <a:tab pos="504190" algn="l"/>
              </a:tabLst>
            </a:pPr>
            <a:r>
              <a:rPr lang="en-US" dirty="0"/>
              <a:t>Provides an easy-to-use web interface for demonstration</a:t>
            </a:r>
          </a:p>
        </p:txBody>
      </p:sp>
      <p:sp>
        <p:nvSpPr>
          <p:cNvPr id="11" name="object 3"/>
          <p:cNvSpPr/>
          <p:nvPr/>
        </p:nvSpPr>
        <p:spPr>
          <a:xfrm>
            <a:off x="747712" y="723900"/>
            <a:ext cx="647065" cy="0"/>
          </a:xfrm>
          <a:custGeom>
            <a:avLst/>
            <a:gdLst/>
            <a:ahLst/>
            <a:cxnLst/>
            <a:rect l="l" t="t" r="r" b="b"/>
            <a:pathLst>
              <a:path w="647065">
                <a:moveTo>
                  <a:pt x="0" y="0"/>
                </a:moveTo>
                <a:lnTo>
                  <a:pt x="646557" y="0"/>
                </a:lnTo>
              </a:path>
            </a:pathLst>
          </a:custGeom>
          <a:ln w="57166">
            <a:solidFill>
              <a:srgbClr val="8063A1"/>
            </a:solidFill>
          </a:ln>
        </p:spPr>
        <p:txBody>
          <a:bodyPr wrap="square" lIns="0" tIns="0" rIns="0" bIns="0" rtlCol="0"/>
          <a:lstStyle/>
          <a:p>
            <a:endParaRPr/>
          </a:p>
        </p:txBody>
      </p:sp>
      <p:pic>
        <p:nvPicPr>
          <p:cNvPr id="3" name="Image 0"/>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6409576" y="1706833"/>
            <a:ext cx="3927611" cy="2910932"/>
          </a:xfrm>
          <a:prstGeom prst="rect">
            <a:avLst/>
          </a:prstGeom>
        </p:spPr>
      </p:pic>
      <p:sp>
        <p:nvSpPr>
          <p:cNvPr id="7" name="TextBox 6">
            <a:extLst>
              <a:ext uri="{FF2B5EF4-FFF2-40B4-BE49-F238E27FC236}">
                <a16:creationId xmlns:a16="http://schemas.microsoft.com/office/drawing/2014/main" id="{8AB76121-AB68-B49D-A1A7-A58FB460B188}"/>
              </a:ext>
            </a:extLst>
          </p:cNvPr>
          <p:cNvSpPr txBox="1"/>
          <p:nvPr/>
        </p:nvSpPr>
        <p:spPr>
          <a:xfrm>
            <a:off x="10337187" y="5676900"/>
            <a:ext cx="312906" cy="369332"/>
          </a:xfrm>
          <a:prstGeom prst="rect">
            <a:avLst/>
          </a:prstGeom>
          <a:noFill/>
        </p:spPr>
        <p:txBody>
          <a:bodyPr wrap="none" rtlCol="0">
            <a:spAutoFit/>
          </a:bodyPr>
          <a:lstStyle/>
          <a:p>
            <a:r>
              <a:rPr lang="en-IN" dirty="0"/>
              <a:t>9</a:t>
            </a:r>
          </a:p>
        </p:txBody>
      </p:sp>
      <p:sp>
        <p:nvSpPr>
          <p:cNvPr id="8" name="TextBox 7">
            <a:extLst>
              <a:ext uri="{FF2B5EF4-FFF2-40B4-BE49-F238E27FC236}">
                <a16:creationId xmlns:a16="http://schemas.microsoft.com/office/drawing/2014/main" id="{CF567821-69C2-B8EF-5A27-431C2E740B87}"/>
              </a:ext>
            </a:extLst>
          </p:cNvPr>
          <p:cNvSpPr txBox="1"/>
          <p:nvPr/>
        </p:nvSpPr>
        <p:spPr>
          <a:xfrm>
            <a:off x="7785100" y="4643096"/>
            <a:ext cx="2133600" cy="307777"/>
          </a:xfrm>
          <a:prstGeom prst="rect">
            <a:avLst/>
          </a:prstGeom>
          <a:noFill/>
        </p:spPr>
        <p:txBody>
          <a:bodyPr wrap="square" rtlCol="0">
            <a:spAutoFit/>
          </a:bodyPr>
          <a:lstStyle/>
          <a:p>
            <a:r>
              <a:rPr lang="en-IN" sz="1400" dirty="0"/>
              <a:t>Buck-wheat Millet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165100" y="6046"/>
            <a:ext cx="9793129" cy="1162629"/>
          </a:xfrm>
          <a:prstGeom prst="rect">
            <a:avLst/>
          </a:prstGeom>
          <a:noFill/>
          <a:ln>
            <a:noFill/>
          </a:ln>
        </p:spPr>
        <p:txBody>
          <a:bodyPr spcFirstLastPara="1" wrap="square" lIns="80188" tIns="40083" rIns="80188" bIns="40083" anchor="ctr" anchorCtr="0">
            <a:normAutofit fontScale="90000"/>
          </a:bodyPr>
          <a:lstStyle/>
          <a:p>
            <a:pPr algn="l">
              <a:buSzPts val="4400"/>
            </a:pPr>
            <a:r>
              <a:rPr lang="en-IN" dirty="0">
                <a:latin typeface="Times New Roman" panose="02020603050405020304" pitchFamily="18" charset="0"/>
                <a:cs typeface="Times New Roman" panose="02020603050405020304" pitchFamily="18" charset="0"/>
              </a:rPr>
              <a:t>LITERATURE SURVEY</a:t>
            </a:r>
            <a:br>
              <a:rPr lang="en-IN" dirty="0"/>
            </a:br>
            <a:endParaRPr dirty="0"/>
          </a:p>
        </p:txBody>
      </p:sp>
      <p:graphicFrame>
        <p:nvGraphicFramePr>
          <p:cNvPr id="119" name="Google Shape;119;p16"/>
          <p:cNvGraphicFramePr/>
          <p:nvPr>
            <p:custDataLst>
              <p:tags r:id="rId1"/>
            </p:custDataLst>
            <p:extLst>
              <p:ext uri="{D42A27DB-BD31-4B8C-83A1-F6EECF244321}">
                <p14:modId xmlns:p14="http://schemas.microsoft.com/office/powerpoint/2010/main" val="3930693890"/>
              </p:ext>
            </p:extLst>
          </p:nvPr>
        </p:nvGraphicFramePr>
        <p:xfrm>
          <a:off x="182880" y="640080"/>
          <a:ext cx="10197613" cy="4489015"/>
        </p:xfrm>
        <a:graphic>
          <a:graphicData uri="http://schemas.openxmlformats.org/drawingml/2006/table">
            <a:tbl>
              <a:tblPr firstRow="1" bandRow="1">
                <a:noFill/>
              </a:tblPr>
              <a:tblGrid>
                <a:gridCol w="1589791">
                  <a:extLst>
                    <a:ext uri="{9D8B030D-6E8A-4147-A177-3AD203B41FA5}">
                      <a16:colId xmlns:a16="http://schemas.microsoft.com/office/drawing/2014/main" val="20000"/>
                    </a:ext>
                  </a:extLst>
                </a:gridCol>
                <a:gridCol w="2385447">
                  <a:extLst>
                    <a:ext uri="{9D8B030D-6E8A-4147-A177-3AD203B41FA5}">
                      <a16:colId xmlns:a16="http://schemas.microsoft.com/office/drawing/2014/main" val="20001"/>
                    </a:ext>
                  </a:extLst>
                </a:gridCol>
                <a:gridCol w="1551034">
                  <a:extLst>
                    <a:ext uri="{9D8B030D-6E8A-4147-A177-3AD203B41FA5}">
                      <a16:colId xmlns:a16="http://schemas.microsoft.com/office/drawing/2014/main" val="20002"/>
                    </a:ext>
                  </a:extLst>
                </a:gridCol>
                <a:gridCol w="2429523">
                  <a:extLst>
                    <a:ext uri="{9D8B030D-6E8A-4147-A177-3AD203B41FA5}">
                      <a16:colId xmlns:a16="http://schemas.microsoft.com/office/drawing/2014/main" val="20004"/>
                    </a:ext>
                  </a:extLst>
                </a:gridCol>
                <a:gridCol w="2241818">
                  <a:extLst>
                    <a:ext uri="{9D8B030D-6E8A-4147-A177-3AD203B41FA5}">
                      <a16:colId xmlns:a16="http://schemas.microsoft.com/office/drawing/2014/main" val="20005"/>
                    </a:ext>
                  </a:extLst>
                </a:gridCol>
              </a:tblGrid>
              <a:tr h="811530">
                <a:tc>
                  <a:txBody>
                    <a:bodyPr/>
                    <a:lstStyle/>
                    <a:p>
                      <a:pPr marL="0" marR="0" lvl="0" indent="0" algn="l" rtl="0">
                        <a:spcBef>
                          <a:spcPts val="0"/>
                        </a:spcBef>
                        <a:spcAft>
                          <a:spcPts val="0"/>
                        </a:spcAft>
                        <a:buNone/>
                      </a:pPr>
                      <a:r>
                        <a:rPr lang="en-IN" sz="1600" u="none" strike="noStrike" cap="none"/>
                        <a:t>Paper Title</a:t>
                      </a:r>
                      <a:endParaRPr sz="1300"/>
                    </a:p>
                  </a:txBody>
                  <a:tcPr marL="80210" marR="80210" marT="40105" marB="40105"/>
                </a:tc>
                <a:tc>
                  <a:txBody>
                    <a:bodyPr/>
                    <a:lstStyle/>
                    <a:p>
                      <a:pPr marL="0" marR="0" lvl="0" indent="0" algn="l" rtl="0">
                        <a:spcBef>
                          <a:spcPts val="0"/>
                        </a:spcBef>
                        <a:spcAft>
                          <a:spcPts val="0"/>
                        </a:spcAft>
                        <a:buNone/>
                      </a:pPr>
                      <a:r>
                        <a:rPr lang="en-IN" sz="1600" dirty="0"/>
                        <a:t> Authors and Year</a:t>
                      </a:r>
                      <a:endParaRPr sz="1600" dirty="0"/>
                    </a:p>
                  </a:txBody>
                  <a:tcPr marL="80210" marR="80210" marT="40105" marB="40105"/>
                </a:tc>
                <a:tc>
                  <a:txBody>
                    <a:bodyPr/>
                    <a:lstStyle/>
                    <a:p>
                      <a:pPr marL="0" marR="0" lvl="0" indent="0" algn="l" rtl="0">
                        <a:spcBef>
                          <a:spcPts val="0"/>
                        </a:spcBef>
                        <a:spcAft>
                          <a:spcPts val="0"/>
                        </a:spcAft>
                        <a:buNone/>
                      </a:pPr>
                      <a:r>
                        <a:rPr lang="en-IN" sz="1600" dirty="0"/>
                        <a:t>Methodology</a:t>
                      </a:r>
                    </a:p>
                    <a:p>
                      <a:pPr marL="0" marR="0" lvl="0" indent="0" algn="l" rtl="0">
                        <a:spcBef>
                          <a:spcPts val="0"/>
                        </a:spcBef>
                        <a:spcAft>
                          <a:spcPts val="0"/>
                        </a:spcAft>
                        <a:buClr>
                          <a:schemeClr val="dk1"/>
                        </a:buClr>
                        <a:buSzPts val="1800"/>
                        <a:buFont typeface="Calibri" panose="020F0502020204030204"/>
                        <a:buNone/>
                      </a:pPr>
                      <a:r>
                        <a:rPr lang="en-IN" sz="1600" dirty="0"/>
                        <a:t>/Implementation</a:t>
                      </a:r>
                      <a:endParaRPr lang="en-IN" sz="1300" dirty="0"/>
                    </a:p>
                  </a:txBody>
                  <a:tcPr marL="80210" marR="80210" marT="40105" marB="40105"/>
                </a:tc>
                <a:tc>
                  <a:txBody>
                    <a:bodyPr/>
                    <a:lstStyle/>
                    <a:p>
                      <a:pPr marL="0" marR="0" lvl="0" indent="0" algn="l" rtl="0">
                        <a:spcBef>
                          <a:spcPts val="0"/>
                        </a:spcBef>
                        <a:spcAft>
                          <a:spcPts val="0"/>
                        </a:spcAft>
                        <a:buNone/>
                      </a:pPr>
                      <a:r>
                        <a:rPr lang="en-IN" sz="1600"/>
                        <a:t>Limitations/Disadvtanges</a:t>
                      </a:r>
                      <a:endParaRPr sz="1600"/>
                    </a:p>
                  </a:txBody>
                  <a:tcPr marL="80210" marR="80210" marT="40105" marB="40105"/>
                </a:tc>
                <a:tc>
                  <a:txBody>
                    <a:bodyPr/>
                    <a:lstStyle/>
                    <a:p>
                      <a:pPr marL="0" marR="0" lvl="0" indent="0" algn="l" rtl="0">
                        <a:spcBef>
                          <a:spcPts val="0"/>
                        </a:spcBef>
                        <a:spcAft>
                          <a:spcPts val="0"/>
                        </a:spcAft>
                        <a:buNone/>
                      </a:pPr>
                      <a:r>
                        <a:rPr lang="en-IN" sz="1600"/>
                        <a:t>Gaps Identified</a:t>
                      </a:r>
                      <a:endParaRPr sz="1300"/>
                    </a:p>
                  </a:txBody>
                  <a:tcPr marL="80210" marR="80210" marT="40105" marB="40105"/>
                </a:tc>
                <a:extLst>
                  <a:ext uri="{0D108BD9-81ED-4DB2-BD59-A6C34878D82A}">
                    <a16:rowId xmlns:a16="http://schemas.microsoft.com/office/drawing/2014/main" val="10000"/>
                  </a:ext>
                </a:extLst>
              </a:tr>
              <a:tr h="1332230">
                <a:tc>
                  <a:txBody>
                    <a:bodyPr/>
                    <a:lstStyle/>
                    <a:p>
                      <a:pPr algn="l" fontAlgn="base">
                        <a:buNone/>
                      </a:pPr>
                      <a:r>
                        <a:rPr lang="en-US" sz="1200" b="0">
                          <a:solidFill>
                            <a:schemeClr val="tx1"/>
                          </a:solidFill>
                          <a:effectLst/>
                        </a:rPr>
                        <a:t>1. Classification of Millet Cultivars Using Image Processing and Machine Learning Techniques</a:t>
                      </a:r>
                    </a:p>
                  </a:txBody>
                  <a:tcPr anchor="ctr"/>
                </a:tc>
                <a:tc>
                  <a:txBody>
                    <a:bodyPr/>
                    <a:lstStyle/>
                    <a:p>
                      <a:pPr algn="l" fontAlgn="base">
                        <a:buNone/>
                      </a:pPr>
                      <a:r>
                        <a:rPr lang="en-IN" sz="1200" b="0" dirty="0" err="1">
                          <a:solidFill>
                            <a:schemeClr val="tx1"/>
                          </a:solidFill>
                          <a:effectLst/>
                        </a:rPr>
                        <a:t>Dewendra</a:t>
                      </a:r>
                      <a:r>
                        <a:rPr lang="en-IN" sz="1200" b="0" dirty="0">
                          <a:solidFill>
                            <a:schemeClr val="tx1"/>
                          </a:solidFill>
                          <a:effectLst/>
                        </a:rPr>
                        <a:t> </a:t>
                      </a:r>
                      <a:r>
                        <a:rPr lang="en-IN" sz="1200" b="0" dirty="0" err="1">
                          <a:solidFill>
                            <a:schemeClr val="tx1"/>
                          </a:solidFill>
                          <a:effectLst/>
                        </a:rPr>
                        <a:t>Bharambe</a:t>
                      </a:r>
                      <a:r>
                        <a:rPr lang="en-IN" sz="1200" b="0" dirty="0">
                          <a:solidFill>
                            <a:schemeClr val="tx1"/>
                          </a:solidFill>
                          <a:effectLst/>
                        </a:rPr>
                        <a:t>, Pushpalata Aher (2023)</a:t>
                      </a:r>
                    </a:p>
                  </a:txBody>
                  <a:tcPr anchor="ctr"/>
                </a:tc>
                <a:tc>
                  <a:txBody>
                    <a:bodyPr/>
                    <a:lstStyle/>
                    <a:p>
                      <a:pPr algn="l" fontAlgn="base">
                        <a:buNone/>
                      </a:pPr>
                      <a:r>
                        <a:rPr lang="en-US" sz="1200" b="0">
                          <a:solidFill>
                            <a:schemeClr val="tx1"/>
                          </a:solidFill>
                          <a:effectLst/>
                        </a:rPr>
                        <a:t>Used color feature extraction and ML classifiers (SVM, KNN, XGBoost) for eight millet cultivars.</a:t>
                      </a:r>
                    </a:p>
                  </a:txBody>
                  <a:tcPr anchor="ctr"/>
                </a:tc>
                <a:tc>
                  <a:txBody>
                    <a:bodyPr/>
                    <a:lstStyle/>
                    <a:p>
                      <a:pPr algn="l" fontAlgn="base">
                        <a:buNone/>
                      </a:pPr>
                      <a:r>
                        <a:rPr lang="en-US" sz="1200" b="0">
                          <a:solidFill>
                            <a:schemeClr val="tx1"/>
                          </a:solidFill>
                          <a:effectLst/>
                        </a:rPr>
                        <a:t>Limited dataset; single seed images used mostly.</a:t>
                      </a:r>
                    </a:p>
                  </a:txBody>
                  <a:tcPr anchor="ctr"/>
                </a:tc>
                <a:tc>
                  <a:txBody>
                    <a:bodyPr/>
                    <a:lstStyle/>
                    <a:p>
                      <a:pPr algn="l" fontAlgn="base">
                        <a:buNone/>
                      </a:pPr>
                      <a:r>
                        <a:rPr lang="en-US" sz="1200" b="0" dirty="0">
                          <a:solidFill>
                            <a:schemeClr val="tx1"/>
                          </a:solidFill>
                          <a:effectLst/>
                        </a:rPr>
                        <a:t>Need for large bulk-grain datasets and inclusion of multi-feature learning.</a:t>
                      </a:r>
                    </a:p>
                  </a:txBody>
                  <a:tcPr anchor="ctr"/>
                </a:tc>
                <a:extLst>
                  <a:ext uri="{0D108BD9-81ED-4DB2-BD59-A6C34878D82A}">
                    <a16:rowId xmlns:a16="http://schemas.microsoft.com/office/drawing/2014/main" val="10001"/>
                  </a:ext>
                </a:extLst>
              </a:tr>
              <a:tr h="1156335">
                <a:tc>
                  <a:txBody>
                    <a:bodyPr/>
                    <a:lstStyle/>
                    <a:p>
                      <a:pPr algn="l" fontAlgn="base">
                        <a:buNone/>
                      </a:pPr>
                      <a:r>
                        <a:rPr lang="en-US" sz="1200" b="0">
                          <a:solidFill>
                            <a:schemeClr val="tx1"/>
                          </a:solidFill>
                          <a:effectLst/>
                        </a:rPr>
                        <a:t>2. Smart Millet Detection and Advisory System for Farmers</a:t>
                      </a:r>
                    </a:p>
                  </a:txBody>
                  <a:tcPr anchor="ctr"/>
                </a:tc>
                <a:tc>
                  <a:txBody>
                    <a:bodyPr/>
                    <a:lstStyle/>
                    <a:p>
                      <a:pPr algn="l" fontAlgn="base">
                        <a:buNone/>
                      </a:pPr>
                      <a:r>
                        <a:rPr lang="en-IN" sz="1200" b="0" dirty="0">
                          <a:solidFill>
                            <a:schemeClr val="tx1"/>
                          </a:solidFill>
                          <a:effectLst/>
                        </a:rPr>
                        <a:t>Nagarjuna G.R. et al. (2025)</a:t>
                      </a:r>
                    </a:p>
                  </a:txBody>
                  <a:tcPr anchor="ctr"/>
                </a:tc>
                <a:tc>
                  <a:txBody>
                    <a:bodyPr/>
                    <a:lstStyle/>
                    <a:p>
                      <a:pPr algn="l" fontAlgn="base">
                        <a:buNone/>
                      </a:pPr>
                      <a:r>
                        <a:rPr lang="en-US" sz="1200" b="0">
                          <a:solidFill>
                            <a:schemeClr val="tx1"/>
                          </a:solidFill>
                          <a:effectLst/>
                        </a:rPr>
                        <a:t>AI-based system integrating ML models for millet disease detection and farming advice.</a:t>
                      </a:r>
                    </a:p>
                  </a:txBody>
                  <a:tcPr anchor="ctr">
                    <a:lnR w="12700">
                      <a:solidFill>
                        <a:schemeClr val="tx1"/>
                      </a:solidFill>
                      <a:prstDash val="solid"/>
                    </a:lnR>
                  </a:tcPr>
                </a:tc>
                <a:tc>
                  <a:txBody>
                    <a:bodyPr/>
                    <a:lstStyle/>
                    <a:p>
                      <a:pPr algn="l" fontAlgn="base">
                        <a:buNone/>
                      </a:pPr>
                      <a:r>
                        <a:rPr lang="en-US" sz="1200" b="0">
                          <a:solidFill>
                            <a:schemeClr val="tx1"/>
                          </a:solidFill>
                          <a:effectLst/>
                        </a:rPr>
                        <a:t>System not field-tested on real-time data.</a:t>
                      </a:r>
                    </a:p>
                  </a:txBody>
                  <a:tcPr anchor="ctr">
                    <a:lnL w="12700" cap="flat" cmpd="sng" algn="ctr">
                      <a:solidFill>
                        <a:schemeClr val="tx1"/>
                      </a:solidFill>
                      <a:prstDash val="solid"/>
                      <a:round/>
                      <a:headEnd type="none" w="med" len="med"/>
                      <a:tailEnd type="none" w="med" len="med"/>
                    </a:lnL>
                  </a:tcPr>
                </a:tc>
                <a:tc>
                  <a:txBody>
                    <a:bodyPr/>
                    <a:lstStyle/>
                    <a:p>
                      <a:pPr algn="l" fontAlgn="base">
                        <a:buNone/>
                      </a:pPr>
                      <a:r>
                        <a:rPr lang="en-US" sz="1200" b="0" dirty="0">
                          <a:solidFill>
                            <a:schemeClr val="tx1"/>
                          </a:solidFill>
                          <a:effectLst/>
                        </a:rPr>
                        <a:t>Lack of real-time integration with IoT for advisory.</a:t>
                      </a:r>
                    </a:p>
                  </a:txBody>
                  <a:tcPr anchor="ctr"/>
                </a:tc>
                <a:extLst>
                  <a:ext uri="{0D108BD9-81ED-4DB2-BD59-A6C34878D82A}">
                    <a16:rowId xmlns:a16="http://schemas.microsoft.com/office/drawing/2014/main" val="10002"/>
                  </a:ext>
                </a:extLst>
              </a:tr>
              <a:tr h="1156335">
                <a:tc>
                  <a:txBody>
                    <a:bodyPr/>
                    <a:lstStyle/>
                    <a:p>
                      <a:pPr algn="l" fontAlgn="base">
                        <a:buNone/>
                      </a:pPr>
                      <a:r>
                        <a:rPr lang="en-US" sz="1200" b="0">
                          <a:solidFill>
                            <a:schemeClr val="tx1"/>
                          </a:solidFill>
                          <a:effectLst/>
                        </a:rPr>
                        <a:t>3. A Deep Learning-Based System for Classification and Quality Evaluation of Seeds (Pearl Millet &amp; Maize)</a:t>
                      </a:r>
                    </a:p>
                  </a:txBody>
                  <a:tcPr anchor="ctr"/>
                </a:tc>
                <a:tc>
                  <a:txBody>
                    <a:bodyPr/>
                    <a:lstStyle/>
                    <a:p>
                      <a:pPr algn="l" fontAlgn="base">
                        <a:buNone/>
                      </a:pPr>
                      <a:r>
                        <a:rPr lang="en-IN" sz="1200" b="0">
                          <a:solidFill>
                            <a:schemeClr val="tx1"/>
                          </a:solidFill>
                          <a:effectLst/>
                        </a:rPr>
                        <a:t>Balaji Tedla et al. (2023)</a:t>
                      </a:r>
                    </a:p>
                  </a:txBody>
                  <a:tcPr anchor="ctr"/>
                </a:tc>
                <a:tc>
                  <a:txBody>
                    <a:bodyPr/>
                    <a:lstStyle/>
                    <a:p>
                      <a:pPr algn="l" fontAlgn="base">
                        <a:buNone/>
                      </a:pPr>
                      <a:r>
                        <a:rPr lang="en-US" sz="1200" b="0">
                          <a:solidFill>
                            <a:schemeClr val="tx1"/>
                          </a:solidFill>
                          <a:effectLst/>
                        </a:rPr>
                        <a:t>Mixed Cropping Seed Classifier and Quality Tester (MCSCQT) using CNN and ImageNet data.</a:t>
                      </a:r>
                    </a:p>
                  </a:txBody>
                  <a:tcPr anchor="ctr">
                    <a:lnR w="12700">
                      <a:solidFill>
                        <a:schemeClr val="tx1"/>
                      </a:solidFill>
                      <a:prstDash val="solid"/>
                    </a:lnR>
                  </a:tcPr>
                </a:tc>
                <a:tc>
                  <a:txBody>
                    <a:bodyPr/>
                    <a:lstStyle/>
                    <a:p>
                      <a:pPr algn="l" fontAlgn="base">
                        <a:buNone/>
                      </a:pPr>
                      <a:r>
                        <a:rPr lang="en-US" sz="1200" b="0" dirty="0">
                          <a:solidFill>
                            <a:schemeClr val="tx1"/>
                          </a:solidFill>
                          <a:effectLst/>
                        </a:rPr>
                        <a:t>Limited to maize and pearl millet.</a:t>
                      </a:r>
                    </a:p>
                  </a:txBody>
                  <a:tcPr anchor="ctr">
                    <a:lnL w="12700" cap="flat" cmpd="sng" algn="ctr">
                      <a:solidFill>
                        <a:schemeClr val="tx1"/>
                      </a:solidFill>
                      <a:prstDash val="solid"/>
                      <a:round/>
                      <a:headEnd type="none" w="med" len="med"/>
                      <a:tailEnd type="none" w="med" len="med"/>
                    </a:lnL>
                  </a:tcPr>
                </a:tc>
                <a:tc>
                  <a:txBody>
                    <a:bodyPr/>
                    <a:lstStyle/>
                    <a:p>
                      <a:pPr algn="l" fontAlgn="base">
                        <a:buNone/>
                      </a:pPr>
                      <a:r>
                        <a:rPr lang="en-US" sz="1200" b="0" dirty="0">
                          <a:solidFill>
                            <a:schemeClr val="tx1"/>
                          </a:solidFill>
                          <a:effectLst/>
                        </a:rPr>
                        <a:t>Extend to more crop varieties and real-field conditions.</a:t>
                      </a:r>
                    </a:p>
                  </a:txBody>
                  <a:tcPr anchor="ctr"/>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81D64760-D651-80B6-9BA2-C4B6AE6BB59E}"/>
              </a:ext>
            </a:extLst>
          </p:cNvPr>
          <p:cNvSpPr txBox="1"/>
          <p:nvPr/>
        </p:nvSpPr>
        <p:spPr>
          <a:xfrm>
            <a:off x="10255487" y="5650468"/>
            <a:ext cx="441146" cy="369332"/>
          </a:xfrm>
          <a:prstGeom prst="rect">
            <a:avLst/>
          </a:prstGeom>
          <a:noFill/>
        </p:spPr>
        <p:txBody>
          <a:bodyPr wrap="none" rtlCol="0">
            <a:spAutoFit/>
          </a:bodyPr>
          <a:lstStyle/>
          <a:p>
            <a:r>
              <a:rPr lang="en-IN"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graphicFrame>
        <p:nvGraphicFramePr>
          <p:cNvPr id="119" name="Google Shape;119;p16"/>
          <p:cNvGraphicFramePr/>
          <p:nvPr>
            <p:custDataLst>
              <p:tags r:id="rId1"/>
            </p:custDataLst>
            <p:extLst>
              <p:ext uri="{D42A27DB-BD31-4B8C-83A1-F6EECF244321}">
                <p14:modId xmlns:p14="http://schemas.microsoft.com/office/powerpoint/2010/main" val="1655807312"/>
              </p:ext>
            </p:extLst>
          </p:nvPr>
        </p:nvGraphicFramePr>
        <p:xfrm>
          <a:off x="235585" y="636905"/>
          <a:ext cx="9911715" cy="5203199"/>
        </p:xfrm>
        <a:graphic>
          <a:graphicData uri="http://schemas.openxmlformats.org/drawingml/2006/table">
            <a:tbl>
              <a:tblPr firstRow="1" bandRow="1">
                <a:noFill/>
              </a:tblPr>
              <a:tblGrid>
                <a:gridCol w="1544654">
                  <a:extLst>
                    <a:ext uri="{9D8B030D-6E8A-4147-A177-3AD203B41FA5}">
                      <a16:colId xmlns:a16="http://schemas.microsoft.com/office/drawing/2014/main" val="20000"/>
                    </a:ext>
                  </a:extLst>
                </a:gridCol>
                <a:gridCol w="2212290">
                  <a:extLst>
                    <a:ext uri="{9D8B030D-6E8A-4147-A177-3AD203B41FA5}">
                      <a16:colId xmlns:a16="http://schemas.microsoft.com/office/drawing/2014/main" val="20001"/>
                    </a:ext>
                  </a:extLst>
                </a:gridCol>
                <a:gridCol w="1614696">
                  <a:extLst>
                    <a:ext uri="{9D8B030D-6E8A-4147-A177-3AD203B41FA5}">
                      <a16:colId xmlns:a16="http://schemas.microsoft.com/office/drawing/2014/main" val="20002"/>
                    </a:ext>
                  </a:extLst>
                </a:gridCol>
                <a:gridCol w="2361316">
                  <a:extLst>
                    <a:ext uri="{9D8B030D-6E8A-4147-A177-3AD203B41FA5}">
                      <a16:colId xmlns:a16="http://schemas.microsoft.com/office/drawing/2014/main" val="20004"/>
                    </a:ext>
                  </a:extLst>
                </a:gridCol>
                <a:gridCol w="2178759">
                  <a:extLst>
                    <a:ext uri="{9D8B030D-6E8A-4147-A177-3AD203B41FA5}">
                      <a16:colId xmlns:a16="http://schemas.microsoft.com/office/drawing/2014/main" val="20005"/>
                    </a:ext>
                  </a:extLst>
                </a:gridCol>
              </a:tblGrid>
              <a:tr h="800925">
                <a:tc>
                  <a:txBody>
                    <a:bodyPr/>
                    <a:lstStyle/>
                    <a:p>
                      <a:pPr marL="0" marR="0" lvl="0" indent="0" algn="l" rtl="0">
                        <a:spcBef>
                          <a:spcPts val="0"/>
                        </a:spcBef>
                        <a:spcAft>
                          <a:spcPts val="0"/>
                        </a:spcAft>
                        <a:buNone/>
                      </a:pPr>
                      <a:r>
                        <a:rPr lang="en-IN" sz="1600" u="none" strike="noStrike" cap="none">
                          <a:solidFill>
                            <a:schemeClr val="tx1"/>
                          </a:solidFill>
                        </a:rPr>
                        <a:t>Paper Title</a:t>
                      </a:r>
                      <a:endParaRPr sz="1300">
                        <a:solidFill>
                          <a:schemeClr val="tx1"/>
                        </a:solidFill>
                      </a:endParaRPr>
                    </a:p>
                  </a:txBody>
                  <a:tcPr marL="80210" marR="80210" marT="40105" marB="40105"/>
                </a:tc>
                <a:tc>
                  <a:txBody>
                    <a:bodyPr/>
                    <a:lstStyle/>
                    <a:p>
                      <a:pPr marL="0" marR="0" lvl="0" indent="0" algn="l" rtl="0">
                        <a:spcBef>
                          <a:spcPts val="0"/>
                        </a:spcBef>
                        <a:spcAft>
                          <a:spcPts val="0"/>
                        </a:spcAft>
                        <a:buNone/>
                      </a:pPr>
                      <a:r>
                        <a:rPr lang="en-IN" sz="1600" dirty="0">
                          <a:solidFill>
                            <a:schemeClr val="tx1"/>
                          </a:solidFill>
                        </a:rPr>
                        <a:t> Authors and Year</a:t>
                      </a:r>
                      <a:endParaRPr lang="en-IN" sz="1300" dirty="0">
                        <a:solidFill>
                          <a:schemeClr val="tx1"/>
                        </a:solidFill>
                      </a:endParaRPr>
                    </a:p>
                    <a:p>
                      <a:pPr marL="0" marR="0" lvl="0" indent="0" algn="l" rtl="0">
                        <a:spcBef>
                          <a:spcPts val="0"/>
                        </a:spcBef>
                        <a:spcAft>
                          <a:spcPts val="0"/>
                        </a:spcAft>
                        <a:buClr>
                          <a:schemeClr val="dk1"/>
                        </a:buClr>
                        <a:buSzPts val="1800"/>
                        <a:buFont typeface="Calibri" panose="020F0502020204030204"/>
                        <a:buNone/>
                      </a:pPr>
                      <a:endParaRPr sz="1600" dirty="0">
                        <a:solidFill>
                          <a:schemeClr val="tx1"/>
                        </a:solidFill>
                      </a:endParaRPr>
                    </a:p>
                  </a:txBody>
                  <a:tcPr marL="80210" marR="80210" marT="40105" marB="40105"/>
                </a:tc>
                <a:tc>
                  <a:txBody>
                    <a:bodyPr/>
                    <a:lstStyle/>
                    <a:p>
                      <a:pPr marL="0" marR="0" lvl="0" indent="0" algn="l" rtl="0">
                        <a:spcBef>
                          <a:spcPts val="0"/>
                        </a:spcBef>
                        <a:spcAft>
                          <a:spcPts val="0"/>
                        </a:spcAft>
                        <a:buNone/>
                      </a:pPr>
                      <a:r>
                        <a:rPr lang="en-IN" sz="1600" dirty="0">
                          <a:solidFill>
                            <a:schemeClr val="tx1"/>
                          </a:solidFill>
                        </a:rPr>
                        <a:t>Methodology</a:t>
                      </a:r>
                    </a:p>
                    <a:p>
                      <a:pPr marL="0" marR="0" lvl="0" indent="0" algn="l" rtl="0">
                        <a:spcBef>
                          <a:spcPts val="0"/>
                        </a:spcBef>
                        <a:spcAft>
                          <a:spcPts val="0"/>
                        </a:spcAft>
                        <a:buClr>
                          <a:schemeClr val="dk1"/>
                        </a:buClr>
                        <a:buSzPts val="1800"/>
                        <a:buFont typeface="Calibri" panose="020F0502020204030204"/>
                        <a:buNone/>
                      </a:pPr>
                      <a:r>
                        <a:rPr lang="en-IN" sz="1600" dirty="0">
                          <a:solidFill>
                            <a:schemeClr val="tx1"/>
                          </a:solidFill>
                        </a:rPr>
                        <a:t>/Implementation</a:t>
                      </a:r>
                      <a:endParaRPr lang="en-IN" sz="1300" dirty="0">
                        <a:solidFill>
                          <a:schemeClr val="tx1"/>
                        </a:solidFill>
                      </a:endParaRPr>
                    </a:p>
                    <a:p>
                      <a:pPr marL="0" marR="0" lvl="0" indent="0" algn="l" rtl="0">
                        <a:spcBef>
                          <a:spcPts val="0"/>
                        </a:spcBef>
                        <a:spcAft>
                          <a:spcPts val="0"/>
                        </a:spcAft>
                        <a:buNone/>
                      </a:pPr>
                      <a:endParaRPr lang="en-IN" sz="1600" dirty="0">
                        <a:solidFill>
                          <a:schemeClr val="tx1"/>
                        </a:solidFill>
                      </a:endParaRPr>
                    </a:p>
                  </a:txBody>
                  <a:tcPr marL="80210" marR="80210" marT="40105" marB="40105"/>
                </a:tc>
                <a:tc>
                  <a:txBody>
                    <a:bodyPr/>
                    <a:lstStyle/>
                    <a:p>
                      <a:pPr marL="0" marR="0" lvl="0" indent="0" algn="l" rtl="0">
                        <a:spcBef>
                          <a:spcPts val="0"/>
                        </a:spcBef>
                        <a:spcAft>
                          <a:spcPts val="0"/>
                        </a:spcAft>
                        <a:buNone/>
                      </a:pPr>
                      <a:r>
                        <a:rPr lang="en-IN" sz="1600">
                          <a:solidFill>
                            <a:schemeClr val="tx1"/>
                          </a:solidFill>
                        </a:rPr>
                        <a:t>Limitations/Disadvtanges</a:t>
                      </a:r>
                      <a:endParaRPr sz="1600">
                        <a:solidFill>
                          <a:schemeClr val="tx1"/>
                        </a:solidFill>
                      </a:endParaRPr>
                    </a:p>
                  </a:txBody>
                  <a:tcPr marL="80210" marR="80210" marT="40105" marB="40105"/>
                </a:tc>
                <a:tc>
                  <a:txBody>
                    <a:bodyPr/>
                    <a:lstStyle/>
                    <a:p>
                      <a:pPr marL="0" marR="0" lvl="0" indent="0" algn="l" rtl="0">
                        <a:spcBef>
                          <a:spcPts val="0"/>
                        </a:spcBef>
                        <a:spcAft>
                          <a:spcPts val="0"/>
                        </a:spcAft>
                        <a:buNone/>
                      </a:pPr>
                      <a:r>
                        <a:rPr lang="en-IN" sz="1600">
                          <a:solidFill>
                            <a:schemeClr val="tx1"/>
                          </a:solidFill>
                        </a:rPr>
                        <a:t>Gaps Identified</a:t>
                      </a:r>
                      <a:endParaRPr sz="1300">
                        <a:solidFill>
                          <a:schemeClr val="tx1"/>
                        </a:solidFill>
                      </a:endParaRPr>
                    </a:p>
                  </a:txBody>
                  <a:tcPr marL="80210" marR="80210" marT="40105" marB="40105"/>
                </a:tc>
                <a:extLst>
                  <a:ext uri="{0D108BD9-81ED-4DB2-BD59-A6C34878D82A}">
                    <a16:rowId xmlns:a16="http://schemas.microsoft.com/office/drawing/2014/main" val="10000"/>
                  </a:ext>
                </a:extLst>
              </a:tr>
              <a:tr h="1097084">
                <a:tc>
                  <a:txBody>
                    <a:bodyPr/>
                    <a:lstStyle/>
                    <a:p>
                      <a:pPr algn="l" fontAlgn="base">
                        <a:buNone/>
                      </a:pPr>
                      <a:r>
                        <a:rPr lang="en-US" sz="1100" b="0" dirty="0">
                          <a:solidFill>
                            <a:schemeClr val="tx1"/>
                          </a:solidFill>
                          <a:effectLst/>
                        </a:rPr>
                        <a:t>4. Folk Biological Classification of Minor Millet Species in Kolli Hills, India</a:t>
                      </a:r>
                    </a:p>
                  </a:txBody>
                  <a:tcPr anchor="ctr"/>
                </a:tc>
                <a:tc>
                  <a:txBody>
                    <a:bodyPr/>
                    <a:lstStyle/>
                    <a:p>
                      <a:pPr algn="l" fontAlgn="base">
                        <a:buNone/>
                      </a:pPr>
                      <a:r>
                        <a:rPr lang="en-IN" sz="1100" b="0">
                          <a:solidFill>
                            <a:schemeClr val="tx1"/>
                          </a:solidFill>
                          <a:effectLst/>
                        </a:rPr>
                        <a:t>R. Rengalakshmi (2005)</a:t>
                      </a:r>
                    </a:p>
                  </a:txBody>
                  <a:tcPr anchor="ctr"/>
                </a:tc>
                <a:tc>
                  <a:txBody>
                    <a:bodyPr/>
                    <a:lstStyle/>
                    <a:p>
                      <a:pPr algn="l" fontAlgn="base">
                        <a:buNone/>
                      </a:pPr>
                      <a:r>
                        <a:rPr lang="en-US" sz="1100" b="0" dirty="0">
                          <a:solidFill>
                            <a:schemeClr val="tx1"/>
                          </a:solidFill>
                          <a:effectLst/>
                        </a:rPr>
                        <a:t>Ethnographic study of tribal millet classification based on morphology and cultural traits.</a:t>
                      </a:r>
                    </a:p>
                  </a:txBody>
                  <a:tcPr anchor="ctr"/>
                </a:tc>
                <a:tc>
                  <a:txBody>
                    <a:bodyPr/>
                    <a:lstStyle/>
                    <a:p>
                      <a:pPr algn="l" fontAlgn="base">
                        <a:buNone/>
                      </a:pPr>
                      <a:r>
                        <a:rPr lang="en-US" sz="1100" b="0">
                          <a:solidFill>
                            <a:schemeClr val="tx1"/>
                          </a:solidFill>
                          <a:effectLst/>
                        </a:rPr>
                        <a:t>No digital or automated classification used.</a:t>
                      </a:r>
                    </a:p>
                  </a:txBody>
                  <a:tcPr anchor="ctr"/>
                </a:tc>
                <a:tc>
                  <a:txBody>
                    <a:bodyPr/>
                    <a:lstStyle/>
                    <a:p>
                      <a:pPr algn="l" fontAlgn="base">
                        <a:buNone/>
                      </a:pPr>
                      <a:r>
                        <a:rPr lang="en-US" sz="1100" b="0">
                          <a:solidFill>
                            <a:schemeClr val="tx1"/>
                          </a:solidFill>
                          <a:effectLst/>
                        </a:rPr>
                        <a:t>Integration of indigenous taxonomy with modern AI methods.</a:t>
                      </a:r>
                    </a:p>
                  </a:txBody>
                  <a:tcPr anchor="ctr"/>
                </a:tc>
                <a:extLst>
                  <a:ext uri="{0D108BD9-81ED-4DB2-BD59-A6C34878D82A}">
                    <a16:rowId xmlns:a16="http://schemas.microsoft.com/office/drawing/2014/main" val="10001"/>
                  </a:ext>
                </a:extLst>
              </a:tr>
              <a:tr h="1098337">
                <a:tc>
                  <a:txBody>
                    <a:bodyPr/>
                    <a:lstStyle/>
                    <a:p>
                      <a:pPr algn="l" fontAlgn="base">
                        <a:buNone/>
                      </a:pPr>
                      <a:r>
                        <a:rPr lang="en-US" sz="1100" b="0">
                          <a:solidFill>
                            <a:schemeClr val="tx1"/>
                          </a:solidFill>
                          <a:effectLst/>
                        </a:rPr>
                        <a:t>5. A Hybrid Deep Learning Framework for Detection of Different Varieties of Grain Types</a:t>
                      </a:r>
                    </a:p>
                  </a:txBody>
                  <a:tcPr anchor="ctr"/>
                </a:tc>
                <a:tc>
                  <a:txBody>
                    <a:bodyPr/>
                    <a:lstStyle/>
                    <a:p>
                      <a:pPr algn="l" fontAlgn="base">
                        <a:buNone/>
                      </a:pPr>
                      <a:r>
                        <a:rPr lang="en-IN" sz="1100" b="0">
                          <a:solidFill>
                            <a:schemeClr val="tx1"/>
                          </a:solidFill>
                          <a:effectLst/>
                        </a:rPr>
                        <a:t>Rahul Nijhawan et al. (2021)</a:t>
                      </a:r>
                    </a:p>
                  </a:txBody>
                  <a:tcPr anchor="ctr"/>
                </a:tc>
                <a:tc>
                  <a:txBody>
                    <a:bodyPr/>
                    <a:lstStyle/>
                    <a:p>
                      <a:pPr algn="l" fontAlgn="base">
                        <a:buNone/>
                      </a:pPr>
                      <a:r>
                        <a:rPr lang="en-IN" sz="1100" b="0">
                          <a:solidFill>
                            <a:schemeClr val="tx1"/>
                          </a:solidFill>
                          <a:effectLst/>
                        </a:rPr>
                        <a:t>Hybrid CNN + Random Forest model for 13 grain types (including millets).</a:t>
                      </a:r>
                    </a:p>
                  </a:txBody>
                  <a:tcPr anchor="ctr"/>
                </a:tc>
                <a:tc>
                  <a:txBody>
                    <a:bodyPr/>
                    <a:lstStyle/>
                    <a:p>
                      <a:pPr algn="l" fontAlgn="base">
                        <a:buNone/>
                      </a:pPr>
                      <a:r>
                        <a:rPr lang="en-US" sz="1100" b="0" dirty="0">
                          <a:solidFill>
                            <a:schemeClr val="tx1"/>
                          </a:solidFill>
                          <a:effectLst/>
                        </a:rPr>
                        <a:t>Limited generalization on unseen grain images.</a:t>
                      </a:r>
                    </a:p>
                  </a:txBody>
                  <a:tcPr anchor="ctr"/>
                </a:tc>
                <a:tc>
                  <a:txBody>
                    <a:bodyPr/>
                    <a:lstStyle/>
                    <a:p>
                      <a:pPr algn="l" fontAlgn="base">
                        <a:buNone/>
                      </a:pPr>
                      <a:r>
                        <a:rPr lang="en-US" sz="1100" b="0">
                          <a:solidFill>
                            <a:schemeClr val="tx1"/>
                          </a:solidFill>
                          <a:effectLst/>
                        </a:rPr>
                        <a:t>Model scalability to real-world, mixed-grain samples.</a:t>
                      </a:r>
                    </a:p>
                  </a:txBody>
                  <a:tcPr anchor="ctr"/>
                </a:tc>
                <a:extLst>
                  <a:ext uri="{0D108BD9-81ED-4DB2-BD59-A6C34878D82A}">
                    <a16:rowId xmlns:a16="http://schemas.microsoft.com/office/drawing/2014/main" val="10002"/>
                  </a:ext>
                </a:extLst>
              </a:tr>
              <a:tr h="1097711">
                <a:tc>
                  <a:txBody>
                    <a:bodyPr/>
                    <a:lstStyle/>
                    <a:p>
                      <a:pPr algn="l" fontAlgn="base">
                        <a:buNone/>
                      </a:pPr>
                      <a:r>
                        <a:rPr lang="en-US" sz="1100" b="0" dirty="0">
                          <a:solidFill>
                            <a:schemeClr val="tx1"/>
                          </a:solidFill>
                          <a:effectLst/>
                        </a:rPr>
                        <a:t>6. Identification of Millet Varieties Using Hyperspectral Imaging Technology</a:t>
                      </a:r>
                    </a:p>
                  </a:txBody>
                  <a:tcPr anchor="ctr"/>
                </a:tc>
                <a:tc>
                  <a:txBody>
                    <a:bodyPr/>
                    <a:lstStyle/>
                    <a:p>
                      <a:pPr algn="l" fontAlgn="base">
                        <a:buNone/>
                      </a:pPr>
                      <a:r>
                        <a:rPr lang="en-IN" sz="1100" b="0">
                          <a:solidFill>
                            <a:schemeClr val="tx1"/>
                          </a:solidFill>
                          <a:effectLst/>
                        </a:rPr>
                        <a:t>X. Wang, Z. Li, D. Zheng, W. Wang (2020)</a:t>
                      </a:r>
                    </a:p>
                  </a:txBody>
                  <a:tcPr anchor="ctr"/>
                </a:tc>
                <a:tc>
                  <a:txBody>
                    <a:bodyPr/>
                    <a:lstStyle/>
                    <a:p>
                      <a:pPr algn="l" fontAlgn="base">
                        <a:buNone/>
                      </a:pPr>
                      <a:r>
                        <a:rPr lang="en-IN" sz="1100" b="0">
                          <a:solidFill>
                            <a:schemeClr val="tx1"/>
                          </a:solidFill>
                          <a:effectLst/>
                        </a:rPr>
                        <a:t>Hyperspectral imaging (VIS–NIR) + SVM and attention-CRNN models.</a:t>
                      </a:r>
                    </a:p>
                  </a:txBody>
                  <a:tcPr anchor="ctr"/>
                </a:tc>
                <a:tc>
                  <a:txBody>
                    <a:bodyPr/>
                    <a:lstStyle/>
                    <a:p>
                      <a:pPr algn="l" fontAlgn="base">
                        <a:buNone/>
                      </a:pPr>
                      <a:r>
                        <a:rPr lang="en-IN" sz="1100" b="0" dirty="0">
                          <a:solidFill>
                            <a:schemeClr val="tx1"/>
                          </a:solidFill>
                          <a:effectLst/>
                        </a:rPr>
                        <a:t>Small dataset (480 samples).</a:t>
                      </a:r>
                    </a:p>
                  </a:txBody>
                  <a:tcPr anchor="ctr"/>
                </a:tc>
                <a:tc>
                  <a:txBody>
                    <a:bodyPr/>
                    <a:lstStyle/>
                    <a:p>
                      <a:pPr algn="l" fontAlgn="base">
                        <a:buNone/>
                      </a:pPr>
                      <a:r>
                        <a:rPr lang="en-US" sz="1100" b="0">
                          <a:solidFill>
                            <a:schemeClr val="tx1"/>
                          </a:solidFill>
                          <a:effectLst/>
                        </a:rPr>
                        <a:t>Expand dataset and integrate real-time hyperspectral sensors.</a:t>
                      </a:r>
                    </a:p>
                  </a:txBody>
                  <a:tcPr anchor="ctr"/>
                </a:tc>
                <a:extLst>
                  <a:ext uri="{0D108BD9-81ED-4DB2-BD59-A6C34878D82A}">
                    <a16:rowId xmlns:a16="http://schemas.microsoft.com/office/drawing/2014/main" val="10003"/>
                  </a:ext>
                </a:extLst>
              </a:tr>
              <a:tr h="1098337">
                <a:tc>
                  <a:txBody>
                    <a:bodyPr/>
                    <a:lstStyle/>
                    <a:p>
                      <a:pPr algn="l" fontAlgn="base">
                        <a:buNone/>
                      </a:pPr>
                      <a:r>
                        <a:rPr lang="en-US" sz="1100" b="0">
                          <a:solidFill>
                            <a:schemeClr val="tx1"/>
                          </a:solidFill>
                          <a:effectLst/>
                        </a:rPr>
                        <a:t>7. Detection of Fungal Contamination in Millet Grain Using Near-Infrared Spectroscopy</a:t>
                      </a:r>
                    </a:p>
                  </a:txBody>
                  <a:tcPr anchor="ctr"/>
                </a:tc>
                <a:tc>
                  <a:txBody>
                    <a:bodyPr/>
                    <a:lstStyle/>
                    <a:p>
                      <a:pPr algn="l" fontAlgn="base">
                        <a:buNone/>
                      </a:pPr>
                      <a:r>
                        <a:rPr lang="en-IN" sz="1100" b="0">
                          <a:solidFill>
                            <a:schemeClr val="tx1"/>
                          </a:solidFill>
                          <a:effectLst/>
                        </a:rPr>
                        <a:t>(From file 00387010.2019.1639762)</a:t>
                      </a:r>
                    </a:p>
                  </a:txBody>
                  <a:tcPr anchor="ctr"/>
                </a:tc>
                <a:tc>
                  <a:txBody>
                    <a:bodyPr/>
                    <a:lstStyle/>
                    <a:p>
                      <a:pPr algn="l" fontAlgn="base">
                        <a:buNone/>
                      </a:pPr>
                      <a:r>
                        <a:rPr lang="en-US" sz="1100" b="0">
                          <a:solidFill>
                            <a:schemeClr val="tx1"/>
                          </a:solidFill>
                          <a:effectLst/>
                        </a:rPr>
                        <a:t>NIR spectroscopy with PLS-DA, KNN, and SVM models.</a:t>
                      </a:r>
                    </a:p>
                  </a:txBody>
                  <a:tcPr anchor="ctr"/>
                </a:tc>
                <a:tc>
                  <a:txBody>
                    <a:bodyPr/>
                    <a:lstStyle/>
                    <a:p>
                      <a:pPr algn="l" fontAlgn="base">
                        <a:buNone/>
                      </a:pPr>
                      <a:r>
                        <a:rPr lang="en-US" sz="1100" b="0" dirty="0">
                          <a:solidFill>
                            <a:schemeClr val="tx1"/>
                          </a:solidFill>
                          <a:effectLst/>
                        </a:rPr>
                        <a:t>Sensitive to noise and spectral variation.</a:t>
                      </a:r>
                    </a:p>
                  </a:txBody>
                  <a:tcPr anchor="ctr"/>
                </a:tc>
                <a:tc>
                  <a:txBody>
                    <a:bodyPr/>
                    <a:lstStyle/>
                    <a:p>
                      <a:pPr algn="l" fontAlgn="base">
                        <a:buNone/>
                      </a:pPr>
                      <a:r>
                        <a:rPr lang="en-US" sz="1100" b="0" dirty="0">
                          <a:solidFill>
                            <a:schemeClr val="tx1"/>
                          </a:solidFill>
                          <a:effectLst/>
                        </a:rPr>
                        <a:t>Improve noise filtering and apply deep learning on NIR data.</a:t>
                      </a:r>
                    </a:p>
                  </a:txBody>
                  <a:tcPr anchor="ctr"/>
                </a:tc>
                <a:extLst>
                  <a:ext uri="{0D108BD9-81ED-4DB2-BD59-A6C34878D82A}">
                    <a16:rowId xmlns:a16="http://schemas.microsoft.com/office/drawing/2014/main" val="10004"/>
                  </a:ext>
                </a:extLst>
              </a:tr>
            </a:tbl>
          </a:graphicData>
        </a:graphic>
      </p:graphicFrame>
      <p:sp>
        <p:nvSpPr>
          <p:cNvPr id="2" name="TextBox 1">
            <a:extLst>
              <a:ext uri="{FF2B5EF4-FFF2-40B4-BE49-F238E27FC236}">
                <a16:creationId xmlns:a16="http://schemas.microsoft.com/office/drawing/2014/main" id="{FE80B761-AEC7-7ACD-E1DB-1FD55F119550}"/>
              </a:ext>
            </a:extLst>
          </p:cNvPr>
          <p:cNvSpPr txBox="1"/>
          <p:nvPr/>
        </p:nvSpPr>
        <p:spPr>
          <a:xfrm>
            <a:off x="10252254" y="5650468"/>
            <a:ext cx="441146" cy="369332"/>
          </a:xfrm>
          <a:prstGeom prst="rect">
            <a:avLst/>
          </a:prstGeom>
          <a:noFill/>
        </p:spPr>
        <p:txBody>
          <a:bodyPr wrap="none" rtlCol="0">
            <a:spAutoFit/>
          </a:bodyPr>
          <a:lstStyle/>
          <a:p>
            <a:r>
              <a:rPr lang="en-IN" dirty="0"/>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7568911-9EA3-59E9-862E-FC57C44011F6}"/>
            </a:ext>
          </a:extLst>
        </p:cNvPr>
        <p:cNvGrpSpPr/>
        <p:nvPr/>
      </p:nvGrpSpPr>
      <p:grpSpPr>
        <a:xfrm>
          <a:off x="0" y="0"/>
          <a:ext cx="0" cy="0"/>
          <a:chOff x="0" y="0"/>
          <a:chExt cx="0" cy="0"/>
        </a:xfrm>
      </p:grpSpPr>
      <p:graphicFrame>
        <p:nvGraphicFramePr>
          <p:cNvPr id="119" name="Google Shape;119;p16">
            <a:extLst>
              <a:ext uri="{FF2B5EF4-FFF2-40B4-BE49-F238E27FC236}">
                <a16:creationId xmlns:a16="http://schemas.microsoft.com/office/drawing/2014/main" id="{F6DADF4E-087F-5BBE-406E-4CE7B7DAD770}"/>
              </a:ext>
            </a:extLst>
          </p:cNvPr>
          <p:cNvGraphicFramePr/>
          <p:nvPr>
            <p:custDataLst>
              <p:tags r:id="rId1"/>
            </p:custDataLst>
            <p:extLst>
              <p:ext uri="{D42A27DB-BD31-4B8C-83A1-F6EECF244321}">
                <p14:modId xmlns:p14="http://schemas.microsoft.com/office/powerpoint/2010/main" val="3721175342"/>
              </p:ext>
            </p:extLst>
          </p:nvPr>
        </p:nvGraphicFramePr>
        <p:xfrm>
          <a:off x="235584" y="636904"/>
          <a:ext cx="9987915" cy="4988331"/>
        </p:xfrm>
        <a:graphic>
          <a:graphicData uri="http://schemas.openxmlformats.org/drawingml/2006/table">
            <a:tbl>
              <a:tblPr firstRow="1" bandRow="1">
                <a:noFill/>
              </a:tblPr>
              <a:tblGrid>
                <a:gridCol w="1556529">
                  <a:extLst>
                    <a:ext uri="{9D8B030D-6E8A-4147-A177-3AD203B41FA5}">
                      <a16:colId xmlns:a16="http://schemas.microsoft.com/office/drawing/2014/main" val="20000"/>
                    </a:ext>
                  </a:extLst>
                </a:gridCol>
                <a:gridCol w="2229298">
                  <a:extLst>
                    <a:ext uri="{9D8B030D-6E8A-4147-A177-3AD203B41FA5}">
                      <a16:colId xmlns:a16="http://schemas.microsoft.com/office/drawing/2014/main" val="20001"/>
                    </a:ext>
                  </a:extLst>
                </a:gridCol>
                <a:gridCol w="1627110">
                  <a:extLst>
                    <a:ext uri="{9D8B030D-6E8A-4147-A177-3AD203B41FA5}">
                      <a16:colId xmlns:a16="http://schemas.microsoft.com/office/drawing/2014/main" val="20002"/>
                    </a:ext>
                  </a:extLst>
                </a:gridCol>
                <a:gridCol w="2379469">
                  <a:extLst>
                    <a:ext uri="{9D8B030D-6E8A-4147-A177-3AD203B41FA5}">
                      <a16:colId xmlns:a16="http://schemas.microsoft.com/office/drawing/2014/main" val="20004"/>
                    </a:ext>
                  </a:extLst>
                </a:gridCol>
                <a:gridCol w="2195509">
                  <a:extLst>
                    <a:ext uri="{9D8B030D-6E8A-4147-A177-3AD203B41FA5}">
                      <a16:colId xmlns:a16="http://schemas.microsoft.com/office/drawing/2014/main" val="20005"/>
                    </a:ext>
                  </a:extLst>
                </a:gridCol>
              </a:tblGrid>
              <a:tr h="696596">
                <a:tc>
                  <a:txBody>
                    <a:bodyPr/>
                    <a:lstStyle/>
                    <a:p>
                      <a:pPr marL="0" marR="0" lvl="0" indent="0" algn="l" rtl="0">
                        <a:spcBef>
                          <a:spcPts val="0"/>
                        </a:spcBef>
                        <a:spcAft>
                          <a:spcPts val="0"/>
                        </a:spcAft>
                        <a:buNone/>
                      </a:pPr>
                      <a:r>
                        <a:rPr lang="en-IN" sz="1600" b="0" u="none" strike="noStrike" cap="none" dirty="0">
                          <a:solidFill>
                            <a:schemeClr val="tx1"/>
                          </a:solidFill>
                        </a:rPr>
                        <a:t>Paper Title</a:t>
                      </a:r>
                      <a:endParaRPr sz="1300" b="0" dirty="0">
                        <a:solidFill>
                          <a:schemeClr val="tx1"/>
                        </a:solidFill>
                      </a:endParaRPr>
                    </a:p>
                  </a:txBody>
                  <a:tcPr marL="80210" marR="80210" marT="40105" marB="40105"/>
                </a:tc>
                <a:tc>
                  <a:txBody>
                    <a:bodyPr/>
                    <a:lstStyle/>
                    <a:p>
                      <a:pPr marL="0" marR="0" lvl="0" indent="0" algn="l" rtl="0">
                        <a:spcBef>
                          <a:spcPts val="0"/>
                        </a:spcBef>
                        <a:spcAft>
                          <a:spcPts val="0"/>
                        </a:spcAft>
                        <a:buNone/>
                      </a:pPr>
                      <a:r>
                        <a:rPr lang="en-IN" sz="1600" b="0" dirty="0">
                          <a:solidFill>
                            <a:schemeClr val="tx1"/>
                          </a:solidFill>
                        </a:rPr>
                        <a:t> Authors and Year</a:t>
                      </a:r>
                      <a:endParaRPr lang="en-IN" sz="1300" b="0" dirty="0">
                        <a:solidFill>
                          <a:schemeClr val="tx1"/>
                        </a:solidFill>
                      </a:endParaRPr>
                    </a:p>
                    <a:p>
                      <a:pPr marL="0" marR="0" lvl="0" indent="0" algn="l" rtl="0">
                        <a:spcBef>
                          <a:spcPts val="0"/>
                        </a:spcBef>
                        <a:spcAft>
                          <a:spcPts val="0"/>
                        </a:spcAft>
                        <a:buClr>
                          <a:schemeClr val="dk1"/>
                        </a:buClr>
                        <a:buSzPts val="1800"/>
                        <a:buFont typeface="Calibri" panose="020F0502020204030204"/>
                        <a:buNone/>
                      </a:pPr>
                      <a:endParaRPr sz="1600" b="0" dirty="0">
                        <a:solidFill>
                          <a:schemeClr val="tx1"/>
                        </a:solidFill>
                      </a:endParaRPr>
                    </a:p>
                  </a:txBody>
                  <a:tcPr marL="80210" marR="80210" marT="40105" marB="40105"/>
                </a:tc>
                <a:tc>
                  <a:txBody>
                    <a:bodyPr/>
                    <a:lstStyle/>
                    <a:p>
                      <a:pPr marL="0" marR="0" lvl="0" indent="0" algn="l" rtl="0">
                        <a:spcBef>
                          <a:spcPts val="0"/>
                        </a:spcBef>
                        <a:spcAft>
                          <a:spcPts val="0"/>
                        </a:spcAft>
                        <a:buNone/>
                      </a:pPr>
                      <a:r>
                        <a:rPr lang="en-IN" sz="1600" b="0" dirty="0">
                          <a:solidFill>
                            <a:schemeClr val="tx1"/>
                          </a:solidFill>
                        </a:rPr>
                        <a:t>Methodology</a:t>
                      </a:r>
                    </a:p>
                    <a:p>
                      <a:pPr marL="0" marR="0" lvl="0" indent="0" algn="l" rtl="0">
                        <a:spcBef>
                          <a:spcPts val="0"/>
                        </a:spcBef>
                        <a:spcAft>
                          <a:spcPts val="0"/>
                        </a:spcAft>
                        <a:buClr>
                          <a:schemeClr val="dk1"/>
                        </a:buClr>
                        <a:buSzPts val="1800"/>
                        <a:buFont typeface="Calibri" panose="020F0502020204030204"/>
                        <a:buNone/>
                      </a:pPr>
                      <a:r>
                        <a:rPr lang="en-IN" sz="1600" b="0" dirty="0">
                          <a:solidFill>
                            <a:schemeClr val="tx1"/>
                          </a:solidFill>
                        </a:rPr>
                        <a:t>/Implementation</a:t>
                      </a:r>
                      <a:endParaRPr lang="en-IN" sz="1300" b="0" dirty="0">
                        <a:solidFill>
                          <a:schemeClr val="tx1"/>
                        </a:solidFill>
                      </a:endParaRPr>
                    </a:p>
                    <a:p>
                      <a:pPr marL="0" marR="0" lvl="0" indent="0" algn="l" rtl="0">
                        <a:spcBef>
                          <a:spcPts val="0"/>
                        </a:spcBef>
                        <a:spcAft>
                          <a:spcPts val="0"/>
                        </a:spcAft>
                        <a:buNone/>
                      </a:pPr>
                      <a:endParaRPr lang="en-IN" sz="1600" b="0" dirty="0">
                        <a:solidFill>
                          <a:schemeClr val="tx1"/>
                        </a:solidFill>
                      </a:endParaRPr>
                    </a:p>
                  </a:txBody>
                  <a:tcPr marL="80210" marR="80210" marT="40105" marB="40105"/>
                </a:tc>
                <a:tc>
                  <a:txBody>
                    <a:bodyPr/>
                    <a:lstStyle/>
                    <a:p>
                      <a:pPr marL="0" marR="0" lvl="0" indent="0" algn="l" rtl="0">
                        <a:spcBef>
                          <a:spcPts val="0"/>
                        </a:spcBef>
                        <a:spcAft>
                          <a:spcPts val="0"/>
                        </a:spcAft>
                        <a:buNone/>
                      </a:pPr>
                      <a:r>
                        <a:rPr lang="en-IN" sz="1600" b="0">
                          <a:solidFill>
                            <a:schemeClr val="tx1"/>
                          </a:solidFill>
                        </a:rPr>
                        <a:t>Limitations/Disadvtanges</a:t>
                      </a:r>
                      <a:endParaRPr sz="1600" b="0">
                        <a:solidFill>
                          <a:schemeClr val="tx1"/>
                        </a:solidFill>
                      </a:endParaRPr>
                    </a:p>
                  </a:txBody>
                  <a:tcPr marL="80210" marR="80210" marT="40105" marB="40105"/>
                </a:tc>
                <a:tc>
                  <a:txBody>
                    <a:bodyPr/>
                    <a:lstStyle/>
                    <a:p>
                      <a:pPr marL="0" marR="0" lvl="0" indent="0" algn="l" rtl="0">
                        <a:spcBef>
                          <a:spcPts val="0"/>
                        </a:spcBef>
                        <a:spcAft>
                          <a:spcPts val="0"/>
                        </a:spcAft>
                        <a:buNone/>
                      </a:pPr>
                      <a:r>
                        <a:rPr lang="en-IN" sz="1600" b="0">
                          <a:solidFill>
                            <a:schemeClr val="tx1"/>
                          </a:solidFill>
                        </a:rPr>
                        <a:t>Gaps Identified</a:t>
                      </a:r>
                      <a:endParaRPr sz="1300" b="0">
                        <a:solidFill>
                          <a:schemeClr val="tx1"/>
                        </a:solidFill>
                      </a:endParaRPr>
                    </a:p>
                  </a:txBody>
                  <a:tcPr marL="80210" marR="80210" marT="40105" marB="40105"/>
                </a:tc>
                <a:extLst>
                  <a:ext uri="{0D108BD9-81ED-4DB2-BD59-A6C34878D82A}">
                    <a16:rowId xmlns:a16="http://schemas.microsoft.com/office/drawing/2014/main" val="10000"/>
                  </a:ext>
                </a:extLst>
              </a:tr>
              <a:tr h="1391406">
                <a:tc>
                  <a:txBody>
                    <a:bodyPr/>
                    <a:lstStyle/>
                    <a:p>
                      <a:pPr algn="l" fontAlgn="base">
                        <a:buNone/>
                      </a:pPr>
                      <a:r>
                        <a:rPr lang="en-US" sz="1200" b="0" dirty="0">
                          <a:solidFill>
                            <a:schemeClr val="tx1"/>
                          </a:solidFill>
                          <a:effectLst/>
                        </a:rPr>
                        <a:t>8. Wheat Kernel Variety Identification Using Deep Learning-Based Feature Selection</a:t>
                      </a:r>
                    </a:p>
                  </a:txBody>
                  <a:tcPr anchor="ctr"/>
                </a:tc>
                <a:tc>
                  <a:txBody>
                    <a:bodyPr/>
                    <a:lstStyle/>
                    <a:p>
                      <a:pPr algn="l" fontAlgn="base">
                        <a:buNone/>
                      </a:pPr>
                      <a:r>
                        <a:rPr lang="fr-FR" sz="1200" b="0">
                          <a:solidFill>
                            <a:schemeClr val="tx1"/>
                          </a:solidFill>
                          <a:effectLst/>
                        </a:rPr>
                        <a:t>Lei Zhou et al. (2020)</a:t>
                      </a:r>
                    </a:p>
                  </a:txBody>
                  <a:tcPr anchor="ctr"/>
                </a:tc>
                <a:tc>
                  <a:txBody>
                    <a:bodyPr/>
                    <a:lstStyle/>
                    <a:p>
                      <a:pPr algn="l" fontAlgn="base">
                        <a:buNone/>
                      </a:pPr>
                      <a:r>
                        <a:rPr lang="en-US" sz="1200" b="0">
                          <a:solidFill>
                            <a:schemeClr val="tx1"/>
                          </a:solidFill>
                          <a:effectLst/>
                        </a:rPr>
                        <a:t>CNN-based feature selector (CNN-FS) with CNN-ATT classifier on large NIR dataset.</a:t>
                      </a:r>
                    </a:p>
                  </a:txBody>
                  <a:tcPr anchor="ctr"/>
                </a:tc>
                <a:tc>
                  <a:txBody>
                    <a:bodyPr/>
                    <a:lstStyle/>
                    <a:p>
                      <a:pPr algn="l" fontAlgn="base">
                        <a:buNone/>
                      </a:pPr>
                      <a:r>
                        <a:rPr lang="en-US" sz="1200" b="0">
                          <a:solidFill>
                            <a:schemeClr val="tx1"/>
                          </a:solidFill>
                          <a:effectLst/>
                        </a:rPr>
                        <a:t>Focused on wheat, not small grains.</a:t>
                      </a:r>
                    </a:p>
                  </a:txBody>
                  <a:tcPr anchor="ctr"/>
                </a:tc>
                <a:tc>
                  <a:txBody>
                    <a:bodyPr/>
                    <a:lstStyle/>
                    <a:p>
                      <a:pPr algn="l" fontAlgn="base">
                        <a:buNone/>
                      </a:pPr>
                      <a:r>
                        <a:rPr lang="en-IN" sz="1200" b="0">
                          <a:solidFill>
                            <a:schemeClr val="tx1"/>
                          </a:solidFill>
                          <a:effectLst/>
                        </a:rPr>
                        <a:t>Extend deep spectral models to millet datasets.</a:t>
                      </a:r>
                    </a:p>
                  </a:txBody>
                  <a:tcPr anchor="ctr"/>
                </a:tc>
                <a:extLst>
                  <a:ext uri="{0D108BD9-81ED-4DB2-BD59-A6C34878D82A}">
                    <a16:rowId xmlns:a16="http://schemas.microsoft.com/office/drawing/2014/main" val="10001"/>
                  </a:ext>
                </a:extLst>
              </a:tr>
              <a:tr h="1392995">
                <a:tc>
                  <a:txBody>
                    <a:bodyPr/>
                    <a:lstStyle/>
                    <a:p>
                      <a:pPr algn="l" fontAlgn="base">
                        <a:buNone/>
                      </a:pPr>
                      <a:r>
                        <a:rPr lang="en-US" sz="1200" b="0">
                          <a:solidFill>
                            <a:schemeClr val="tx1"/>
                          </a:solidFill>
                          <a:effectLst/>
                        </a:rPr>
                        <a:t>9. Classification of Pepper Seeds by Machine Learning Using CFA Images</a:t>
                      </a:r>
                    </a:p>
                  </a:txBody>
                  <a:tcPr anchor="ctr"/>
                </a:tc>
                <a:tc>
                  <a:txBody>
                    <a:bodyPr/>
                    <a:lstStyle/>
                    <a:p>
                      <a:pPr algn="l" fontAlgn="base">
                        <a:buNone/>
                      </a:pPr>
                      <a:r>
                        <a:rPr lang="da-DK" sz="1200" b="0">
                          <a:solidFill>
                            <a:schemeClr val="tx1"/>
                          </a:solidFill>
                          <a:effectLst/>
                        </a:rPr>
                        <a:t>Kani Djoulde et al. (2024)</a:t>
                      </a:r>
                    </a:p>
                  </a:txBody>
                  <a:tcPr anchor="ctr"/>
                </a:tc>
                <a:tc>
                  <a:txBody>
                    <a:bodyPr/>
                    <a:lstStyle/>
                    <a:p>
                      <a:pPr algn="l" fontAlgn="base">
                        <a:buNone/>
                      </a:pPr>
                      <a:r>
                        <a:rPr lang="en-US" sz="1200" b="0">
                          <a:solidFill>
                            <a:schemeClr val="tx1"/>
                          </a:solidFill>
                          <a:effectLst/>
                        </a:rPr>
                        <a:t>Color Filter Array image features with SVM and ML models.</a:t>
                      </a:r>
                    </a:p>
                  </a:txBody>
                  <a:tcPr anchor="ctr"/>
                </a:tc>
                <a:tc>
                  <a:txBody>
                    <a:bodyPr/>
                    <a:lstStyle/>
                    <a:p>
                      <a:pPr algn="l" fontAlgn="base">
                        <a:buNone/>
                      </a:pPr>
                      <a:r>
                        <a:rPr lang="en-IN" sz="1200" b="0">
                          <a:solidFill>
                            <a:schemeClr val="tx1"/>
                          </a:solidFill>
                          <a:effectLst/>
                        </a:rPr>
                        <a:t>Limited to pepper seeds.</a:t>
                      </a:r>
                    </a:p>
                  </a:txBody>
                  <a:tcPr anchor="ctr"/>
                </a:tc>
                <a:tc>
                  <a:txBody>
                    <a:bodyPr/>
                    <a:lstStyle/>
                    <a:p>
                      <a:pPr algn="l" fontAlgn="base">
                        <a:buNone/>
                      </a:pPr>
                      <a:r>
                        <a:rPr lang="en-US" sz="1200" b="0">
                          <a:solidFill>
                            <a:schemeClr val="tx1"/>
                          </a:solidFill>
                          <a:effectLst/>
                        </a:rPr>
                        <a:t>Apply CFA-based imaging to millet and other cereals.</a:t>
                      </a:r>
                    </a:p>
                  </a:txBody>
                  <a:tcPr anchor="ctr"/>
                </a:tc>
                <a:extLst>
                  <a:ext uri="{0D108BD9-81ED-4DB2-BD59-A6C34878D82A}">
                    <a16:rowId xmlns:a16="http://schemas.microsoft.com/office/drawing/2014/main" val="10002"/>
                  </a:ext>
                </a:extLst>
              </a:tr>
              <a:tr h="1392200">
                <a:tc>
                  <a:txBody>
                    <a:bodyPr/>
                    <a:lstStyle/>
                    <a:p>
                      <a:pPr algn="l" fontAlgn="base">
                        <a:buNone/>
                      </a:pPr>
                      <a:r>
                        <a:rPr lang="en-US" sz="1200" b="0">
                          <a:solidFill>
                            <a:schemeClr val="tx1"/>
                          </a:solidFill>
                          <a:effectLst/>
                        </a:rPr>
                        <a:t>10. Comparative Study Between Traditional ML and DL Models to Classify Rice Types</a:t>
                      </a:r>
                    </a:p>
                  </a:txBody>
                  <a:tcPr marB="342900" anchor="ctr"/>
                </a:tc>
                <a:tc>
                  <a:txBody>
                    <a:bodyPr/>
                    <a:lstStyle/>
                    <a:p>
                      <a:pPr algn="l" fontAlgn="base">
                        <a:buNone/>
                      </a:pPr>
                      <a:r>
                        <a:rPr lang="pt-BR" sz="1200" b="0">
                          <a:solidFill>
                            <a:schemeClr val="tx1"/>
                          </a:solidFill>
                          <a:effectLst/>
                        </a:rPr>
                        <a:t>Zainab M.G.H.M. Ali (2022)</a:t>
                      </a:r>
                    </a:p>
                  </a:txBody>
                  <a:tcPr marB="342900" anchor="ctr"/>
                </a:tc>
                <a:tc>
                  <a:txBody>
                    <a:bodyPr/>
                    <a:lstStyle/>
                    <a:p>
                      <a:pPr algn="l" fontAlgn="base">
                        <a:buNone/>
                      </a:pPr>
                      <a:r>
                        <a:rPr lang="en-US" sz="1200" b="0">
                          <a:solidFill>
                            <a:schemeClr val="tx1"/>
                          </a:solidFill>
                          <a:effectLst/>
                        </a:rPr>
                        <a:t>Compared SVM, Random Forest, Decision Tree, and CNN on 75k rice images.</a:t>
                      </a:r>
                    </a:p>
                  </a:txBody>
                  <a:tcPr marB="342900" anchor="ctr"/>
                </a:tc>
                <a:tc>
                  <a:txBody>
                    <a:bodyPr/>
                    <a:lstStyle/>
                    <a:p>
                      <a:pPr algn="l" fontAlgn="base">
                        <a:buNone/>
                      </a:pPr>
                      <a:r>
                        <a:rPr lang="en-US" sz="1200" b="0" dirty="0">
                          <a:solidFill>
                            <a:schemeClr val="tx1"/>
                          </a:solidFill>
                          <a:effectLst/>
                        </a:rPr>
                        <a:t>CNN underperformed due to small tuning.</a:t>
                      </a:r>
                    </a:p>
                  </a:txBody>
                  <a:tcPr marB="342900" anchor="ctr"/>
                </a:tc>
                <a:tc>
                  <a:txBody>
                    <a:bodyPr/>
                    <a:lstStyle/>
                    <a:p>
                      <a:pPr algn="l" fontAlgn="base">
                        <a:buNone/>
                      </a:pPr>
                      <a:r>
                        <a:rPr lang="en-IN" sz="1200" b="0" dirty="0">
                          <a:solidFill>
                            <a:schemeClr val="tx1"/>
                          </a:solidFill>
                          <a:effectLst/>
                        </a:rPr>
                        <a:t>Hybrid deep models needed for better generalization to millet.</a:t>
                      </a:r>
                    </a:p>
                  </a:txBody>
                  <a:tcPr marB="342900" anchor="ctr"/>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07A49CBC-9E35-602A-7D05-1C300417FFFF}"/>
              </a:ext>
            </a:extLst>
          </p:cNvPr>
          <p:cNvSpPr txBox="1"/>
          <p:nvPr/>
        </p:nvSpPr>
        <p:spPr>
          <a:xfrm>
            <a:off x="10243819" y="5644633"/>
            <a:ext cx="441146" cy="369332"/>
          </a:xfrm>
          <a:prstGeom prst="rect">
            <a:avLst/>
          </a:prstGeom>
          <a:noFill/>
        </p:spPr>
        <p:txBody>
          <a:bodyPr wrap="none" rtlCol="0">
            <a:spAutoFit/>
          </a:bodyPr>
          <a:lstStyle/>
          <a:p>
            <a:r>
              <a:rPr lang="en-IN" dirty="0"/>
              <a:t>12</a:t>
            </a:r>
          </a:p>
        </p:txBody>
      </p:sp>
    </p:spTree>
    <p:extLst>
      <p:ext uri="{BB962C8B-B14F-4D97-AF65-F5344CB8AC3E}">
        <p14:creationId xmlns:p14="http://schemas.microsoft.com/office/powerpoint/2010/main" val="1370340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0859" y="2605976"/>
            <a:ext cx="4300220" cy="478336"/>
          </a:xfrm>
          <a:prstGeom prst="rect">
            <a:avLst/>
          </a:prstGeom>
        </p:spPr>
        <p:txBody>
          <a:bodyPr vert="horz" wrap="square" lIns="0" tIns="16510" rIns="0" bIns="0" rtlCol="0">
            <a:spAutoFit/>
          </a:bodyPr>
          <a:lstStyle/>
          <a:p>
            <a:pPr marL="12700">
              <a:lnSpc>
                <a:spcPct val="100000"/>
              </a:lnSpc>
              <a:spcBef>
                <a:spcPts val="130"/>
              </a:spcBef>
            </a:pPr>
            <a:r>
              <a:rPr sz="3000" dirty="0">
                <a:latin typeface="Times New Roman" panose="02020603050405020304" pitchFamily="18" charset="0"/>
                <a:cs typeface="Times New Roman" panose="02020603050405020304" pitchFamily="18" charset="0"/>
              </a:rPr>
              <a:t>THANK</a:t>
            </a:r>
            <a:r>
              <a:rPr sz="3000" spc="-45" dirty="0">
                <a:latin typeface="Times New Roman" panose="02020603050405020304" pitchFamily="18" charset="0"/>
                <a:cs typeface="Times New Roman" panose="02020603050405020304" pitchFamily="18" charset="0"/>
              </a:rPr>
              <a:t> </a:t>
            </a:r>
            <a:r>
              <a:rPr sz="3000" spc="-25" dirty="0">
                <a:latin typeface="Times New Roman" panose="02020603050405020304" pitchFamily="18" charset="0"/>
                <a:cs typeface="Times New Roman" panose="02020603050405020304" pitchFamily="18" charset="0"/>
              </a:rPr>
              <a:t>YOU</a:t>
            </a:r>
            <a:endParaRPr sz="3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7695565" y="5592762"/>
            <a:ext cx="215900" cy="231775"/>
          </a:xfrm>
          <a:prstGeom prst="rect">
            <a:avLst/>
          </a:prstGeom>
        </p:spPr>
        <p:txBody>
          <a:bodyPr vert="horz" wrap="square" lIns="0" tIns="12700" rIns="0" bIns="0" rtlCol="0">
            <a:spAutoFit/>
          </a:bodyPr>
          <a:lstStyle/>
          <a:p>
            <a:pPr marL="12700">
              <a:lnSpc>
                <a:spcPct val="100000"/>
              </a:lnSpc>
              <a:spcBef>
                <a:spcPts val="100"/>
              </a:spcBef>
            </a:pPr>
            <a:r>
              <a:rPr sz="1350" spc="-25" dirty="0">
                <a:latin typeface="Arial MT"/>
                <a:cs typeface="Arial MT"/>
              </a:rPr>
              <a:t>15</a:t>
            </a:r>
            <a:endParaRPr sz="1350">
              <a:latin typeface="Arial MT"/>
              <a:cs typeface="Arial MT"/>
            </a:endParaRPr>
          </a:p>
        </p:txBody>
      </p:sp>
      <p:sp>
        <p:nvSpPr>
          <p:cNvPr id="4" name="object 3"/>
          <p:cNvSpPr/>
          <p:nvPr/>
        </p:nvSpPr>
        <p:spPr>
          <a:xfrm>
            <a:off x="530859" y="2400300"/>
            <a:ext cx="647065" cy="0"/>
          </a:xfrm>
          <a:custGeom>
            <a:avLst/>
            <a:gdLst/>
            <a:ahLst/>
            <a:cxnLst/>
            <a:rect l="l" t="t" r="r" b="b"/>
            <a:pathLst>
              <a:path w="647065">
                <a:moveTo>
                  <a:pt x="0" y="0"/>
                </a:moveTo>
                <a:lnTo>
                  <a:pt x="646557" y="0"/>
                </a:lnTo>
              </a:path>
            </a:pathLst>
          </a:custGeom>
          <a:ln w="57166">
            <a:solidFill>
              <a:srgbClr val="8063A1"/>
            </a:solidFill>
          </a:ln>
        </p:spPr>
        <p:txBody>
          <a:bodyPr wrap="square" lIns="0" tIns="0" rIns="0" bIns="0" rtlCol="0"/>
          <a:lstStyle/>
          <a:p>
            <a:endParaRPr/>
          </a:p>
        </p:txBody>
      </p:sp>
      <p:pic>
        <p:nvPicPr>
          <p:cNvPr id="6" name="Picture 5"/>
          <p:cNvPicPr>
            <a:picLocks noChangeAspect="1"/>
          </p:cNvPicPr>
          <p:nvPr/>
        </p:nvPicPr>
        <p:blipFill>
          <a:blip r:embed="rId2"/>
          <a:stretch>
            <a:fillRect/>
          </a:stretch>
        </p:blipFill>
        <p:spPr>
          <a:xfrm>
            <a:off x="5987393" y="866056"/>
            <a:ext cx="4706007" cy="5153744"/>
          </a:xfrm>
          <a:prstGeom prst="rect">
            <a:avLst/>
          </a:prstGeom>
        </p:spPr>
      </p:pic>
      <p:sp>
        <p:nvSpPr>
          <p:cNvPr id="5" name="TextBox 4">
            <a:extLst>
              <a:ext uri="{FF2B5EF4-FFF2-40B4-BE49-F238E27FC236}">
                <a16:creationId xmlns:a16="http://schemas.microsoft.com/office/drawing/2014/main" id="{AC97F5C6-56AA-86CF-7FD0-86193D803F81}"/>
              </a:ext>
            </a:extLst>
          </p:cNvPr>
          <p:cNvSpPr txBox="1"/>
          <p:nvPr/>
        </p:nvSpPr>
        <p:spPr>
          <a:xfrm>
            <a:off x="10223500" y="5676900"/>
            <a:ext cx="441146" cy="369332"/>
          </a:xfrm>
          <a:prstGeom prst="rect">
            <a:avLst/>
          </a:prstGeom>
          <a:noFill/>
        </p:spPr>
        <p:txBody>
          <a:bodyPr wrap="none" rtlCol="0">
            <a:spAutoFit/>
          </a:bodyPr>
          <a:lstStyle/>
          <a:p>
            <a:r>
              <a:rPr lang="en-IN" dirty="0"/>
              <a:t>13</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04*299"/>
  <p:tag name="TABLE_ENDDRAG_RECT" val="18*50*804*299"/>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797*413"/>
  <p:tag name="TABLE_ENDDRAG_RECT" val="18*50*797*413"/>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797*413"/>
  <p:tag name="TABLE_ENDDRAG_RECT" val="18*50*797*41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662</TotalTime>
  <Words>1134</Words>
  <Application>Microsoft Office PowerPoint</Application>
  <PresentationFormat>Custom</PresentationFormat>
  <Paragraphs>156</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MT</vt:lpstr>
      <vt:lpstr>Calibri</vt:lpstr>
      <vt:lpstr>Times New Roman</vt:lpstr>
      <vt:lpstr>Trebuchet MS</vt:lpstr>
      <vt:lpstr>Office Theme</vt:lpstr>
      <vt:lpstr>PowerPoint Presentation</vt:lpstr>
      <vt:lpstr>PowerPoint Presentation</vt:lpstr>
      <vt:lpstr>MOTIVATION</vt:lpstr>
      <vt:lpstr>PROBLEM STATEMENT</vt:lpstr>
      <vt:lpstr>OBJECTIVE</vt:lpstr>
      <vt:lpstr>COURSE CONNECT</vt:lpstr>
      <vt:lpstr>METHODOLGY</vt:lpstr>
      <vt:lpstr>VISION TRANSFORMER ARCHITECTURE</vt:lpstr>
      <vt:lpstr>METHODOLOGY</vt:lpstr>
      <vt:lpstr>LITERATURE SURVEY </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Niranjan Desai</dc:creator>
  <cp:lastModifiedBy>Soujanya Mirajkar</cp:lastModifiedBy>
  <cp:revision>36</cp:revision>
  <dcterms:created xsi:type="dcterms:W3CDTF">2025-04-16T09:55:00Z</dcterms:created>
  <dcterms:modified xsi:type="dcterms:W3CDTF">2025-12-08T08:09:03Z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2025-04-15T05:30:00Z</vt:filetime>
  </property>
  <property fmtid="{D5CDD505-2E9C-101B-9397-08002B2CF9AE}" pid="3" name="LastSaved">
    <vt:filetime>2025-04-16T05:30:00Z</vt:filetime>
  </property>
  <property fmtid="{D5CDD505-2E9C-101B-9397-08002B2CF9AE}" pid="4" name="ICV">
    <vt:lpwstr>3022CB51C2D746EE9821E181E27123AB_12</vt:lpwstr>
  </property>
  <property fmtid="{D5CDD505-2E9C-101B-9397-08002B2CF9AE}" pid="5" name="KSOProductBuildVer">
    <vt:lpwstr>1033-12.2.0.21931</vt:lpwstr>
  </property>
</Properties>
</file>